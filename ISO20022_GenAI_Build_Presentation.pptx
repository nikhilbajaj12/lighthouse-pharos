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platform automates the SWIFT MT to ISO 20022 migration using AI agents — solving a major industry-wide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Banks face a hard deadline. Manual migration is slow, error-prone, and impossible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We've built an agentic pipeline that parses, maps, enriches and validates — automatically —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is a clean layered REST service backed by a LangGraph agent workflow and Azure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 layers — UI, API, Services, Agents — following PayOrch enterprise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show you a live MT103 input producing a compliant pacs.008 XML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live with the foundation. Phase 2 wires in full LLM intelligence. Phase 3 makes it enterprise-ready.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3.png"/><Relationship Id="rId11" Type="http://schemas.openxmlformats.org/officeDocument/2006/relationships/image" Target="../media/image-4-3.png"/><Relationship Id="rId12" Type="http://schemas.openxmlformats.org/officeDocument/2006/relationships/image" Target="../media/image-4-3.png"/><Relationship Id="rId13" Type="http://schemas.openxmlformats.org/officeDocument/2006/relationships/image" Target="../media/image-4-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4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BUILD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Platform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SWIFT MT  →  ISO 20022 MX Transformation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023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future of cross-border payments with agentic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4709160"/>
            <a:ext cx="1890979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709160"/>
            <a:ext cx="1890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MT ↔ MX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95651" y="4709160"/>
            <a:ext cx="1488643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5651" y="4709160"/>
            <a:ext cx="14886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0598" y="470916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0598" y="47091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85078" y="4709160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5078" y="4709160"/>
            <a:ext cx="17300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61427" y="4709160"/>
            <a:ext cx="156911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1427" y="4709160"/>
            <a:ext cx="1569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PayOrch Standards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 |  July 2026  |  Internal Demo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SWIFT MT Sunset Is Here — Are Banks Ready?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55064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clo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783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Deadline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075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mandates full migration from MT to ISO 20022 MX. Co-existence period ended Nov 2025 — non-compliance is not an option.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1417320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8112" y="1655064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1" name="Image 1" descr="assets/icon_lay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7830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Manual Mapping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68112" y="2075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messages are flat tag-based text; MX messages are hierarchical XML. Manual field mapping is error-prone and unsustainable at scale.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19272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6" name="Image 2" descr="assets/icon_databas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4472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Gap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3739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MX demands LEI codes, purpose codes &amp; structured addresses that simply don't exist in legacy MT messages.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212080" y="3081528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68112" y="3319272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1" name="Image 3" descr="assets/icon_trendingUp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34472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Challenge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68112" y="3739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process millions of payment messages daily. Manual pipelines cannot match the required throughput.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45736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83480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6" name="Image 4" descr="assets/icon_shiel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11149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46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Settlement Risk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04672" y="540410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field mapping causes failed settlements, regulatory penalties and reputational damage.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212080" y="4745736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0B2E63"/>
          </a:solidFill>
          <a:ln/>
          <a:effectLst>
            <a:outerShdw sx="100000" sy="100000" kx="0" ky="0" algn="bl" rotWithShape="0" blurRad="152400" dist="38100" dir="5400000">
              <a:srgbClr val="0B2E63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5486400" y="492861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~$500B+</a:t>
            </a:r>
            <a:endParaRPr lang="en-US" sz="3600" dirty="0"/>
          </a:p>
        </p:txBody>
      </p:sp>
      <p:sp>
        <p:nvSpPr>
          <p:cNvPr id="31" name="Text 24"/>
          <p:cNvSpPr/>
          <p:nvPr/>
        </p:nvSpPr>
        <p:spPr>
          <a:xfrm>
            <a:off x="5486400" y="56144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cross-border payments at risk of non-compliance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Agentic AI to Automate MT ↔ MX Migration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automatically parses legacy SWIFT MT messages, maps fields to ISO 20022 MX schema, enriches missing data using LLM reasoning, and generates schema-validated XML — fully automated and bidirectional.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7" name="Image 0" descr="assets/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80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284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pipeline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· Mapping · Enrichment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XML generation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field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12" name="Image 1" descr="assets/icon_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80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3284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→ MX and MX → MT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reverse transformation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fallback supported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guarantee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E6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17" name="Image 2" descr="assets/icon_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423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980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Output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33284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ISO 20022 XML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pain.001 · pacs.008 · pacs.009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every transform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MESSAGE PAIRS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MT101</a:t>
            </a:r>
            <a:pPr indent="0" marL="0">
              <a:buNone/>
            </a:pPr>
            <a:r>
              <a:rPr lang="en-US" sz="1300" b="1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pain.001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4980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 Initiation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34340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5" name="Text 20"/>
          <p:cNvSpPr/>
          <p:nvPr/>
        </p:nvSpPr>
        <p:spPr>
          <a:xfrm>
            <a:off x="454456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MT103</a:t>
            </a:r>
            <a:pPr indent="0" marL="0">
              <a:buNone/>
            </a:pPr>
            <a:r>
              <a:rPr lang="en-US" sz="1300" b="1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pacs.008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4456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 Transfer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13816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8" name="Text 23"/>
          <p:cNvSpPr/>
          <p:nvPr/>
        </p:nvSpPr>
        <p:spPr>
          <a:xfrm>
            <a:off x="833932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MT202</a:t>
            </a:r>
            <a:pPr indent="0" marL="0">
              <a:buNone/>
            </a:pPr>
            <a:r>
              <a:rPr lang="en-US" sz="1300" b="1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pacs.009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33932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 Transfer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5404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MODES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4864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7724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 </a:t>
            </a:r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rule-based mapping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34340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7200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 </a:t>
            </a:r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powered semantic reasoning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13816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B2E63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36676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 </a:t>
            </a:r>
            <a:pPr indent="0" marL="0">
              <a:buNone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first, LLM fills the gaps (default)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monito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Consumer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Consumer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Gateway</a:t>
            </a:r>
            <a:endParaRPr lang="en-US" sz="860" dirty="0"/>
          </a:p>
        </p:txBody>
      </p:sp>
      <p:pic>
        <p:nvPicPr>
          <p:cNvPr id="9" name="Image 1" descr="assets/icon_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195224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382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2" name="Image 2" descr="assets/icon_serve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72" y="1627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15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4015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/transform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/reverse-transform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/config</a:t>
            </a:r>
            <a:endParaRPr lang="en-US" sz="860" dirty="0"/>
          </a:p>
        </p:txBody>
      </p:sp>
      <p:pic>
        <p:nvPicPr>
          <p:cNvPr id="15" name="Image 3" descr="assets/icon_arrowRigh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195224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350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101600" dist="25400" dir="5400000">
              <a:srgbClr val="0B2E63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81444" y="1517904"/>
            <a:ext cx="438912" cy="438912"/>
          </a:xfrm>
          <a:prstGeom prst="ellipse">
            <a:avLst/>
          </a:prstGeom>
          <a:solidFill>
            <a:srgbClr val="173E75"/>
          </a:solidFill>
          <a:ln/>
        </p:spPr>
      </p:sp>
      <p:pic>
        <p:nvPicPr>
          <p:cNvPr id="18" name="Image 4" descr="assets/icon_gitBran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72" y="162763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447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Workflow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1447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Graph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Parse→Map→Enrich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→Validate→Gen XML</a:t>
            </a:r>
            <a:endParaRPr lang="en-US" sz="860" dirty="0"/>
          </a:p>
        </p:txBody>
      </p:sp>
      <p:pic>
        <p:nvPicPr>
          <p:cNvPr id="21" name="Image 5" descr="assets/icon_arrowRight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195224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7782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246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4" name="Image 6" descr="assets/icon_cpu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4372" y="1627632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8879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88879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Agent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860" dirty="0"/>
          </a:p>
        </p:txBody>
      </p:sp>
      <p:pic>
        <p:nvPicPr>
          <p:cNvPr id="27" name="Image 7" descr="assets/icon_arrowRight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9843516" y="2807208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778240" y="29900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AF3F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8915400" y="30449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  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8915400" y="3264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mapping · Field enrichment · LLM reasoning</a:t>
            </a:r>
            <a:endParaRPr lang="en-US" sz="760" dirty="0"/>
          </a:p>
        </p:txBody>
      </p:sp>
      <p:sp>
        <p:nvSpPr>
          <p:cNvPr id="31" name="Text 21"/>
          <p:cNvSpPr/>
          <p:nvPr/>
        </p:nvSpPr>
        <p:spPr>
          <a:xfrm>
            <a:off x="548640" y="363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Bidirectional (MX → MT reverse also supported)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54864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PIPELINE DETAIL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548640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76656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35" name="Text 25"/>
          <p:cNvSpPr/>
          <p:nvPr/>
        </p:nvSpPr>
        <p:spPr>
          <a:xfrm>
            <a:off x="676656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1024128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MT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76656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type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tags</a:t>
            </a:r>
            <a:endParaRPr lang="en-US" sz="830" dirty="0"/>
          </a:p>
        </p:txBody>
      </p:sp>
      <p:pic>
        <p:nvPicPr>
          <p:cNvPr id="38" name="Image 8" descr="assets/icon_arrowRight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2888" y="4626864"/>
            <a:ext cx="164592" cy="164592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2715768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2843784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41" name="Text 30"/>
          <p:cNvSpPr/>
          <p:nvPr/>
        </p:nvSpPr>
        <p:spPr>
          <a:xfrm>
            <a:off x="2843784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42" name="Text 31"/>
          <p:cNvSpPr/>
          <p:nvPr/>
        </p:nvSpPr>
        <p:spPr>
          <a:xfrm>
            <a:off x="3191256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Fields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2843784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tag → MX path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830" dirty="0"/>
          </a:p>
        </p:txBody>
      </p:sp>
      <p:pic>
        <p:nvPicPr>
          <p:cNvPr id="44" name="Image 9" descr="assets/icon_arrowRight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4626864"/>
            <a:ext cx="164592" cy="164592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4882896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5010912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47" name="Text 35"/>
          <p:cNvSpPr/>
          <p:nvPr/>
        </p:nvSpPr>
        <p:spPr>
          <a:xfrm>
            <a:off x="5010912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5358384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49" name="Text 37"/>
          <p:cNvSpPr/>
          <p:nvPr/>
        </p:nvSpPr>
        <p:spPr>
          <a:xfrm>
            <a:off x="5010912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fills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</a:t>
            </a:r>
            <a:endParaRPr lang="en-US" sz="830" dirty="0"/>
          </a:p>
        </p:txBody>
      </p:sp>
      <p:pic>
        <p:nvPicPr>
          <p:cNvPr id="50" name="Image 10" descr="assets/icon_arrowRight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7144" y="4626864"/>
            <a:ext cx="164592" cy="16459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7050024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7178040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53" name="Text 40"/>
          <p:cNvSpPr/>
          <p:nvPr/>
        </p:nvSpPr>
        <p:spPr>
          <a:xfrm>
            <a:off x="717804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54" name="Text 41"/>
          <p:cNvSpPr/>
          <p:nvPr/>
        </p:nvSpPr>
        <p:spPr>
          <a:xfrm>
            <a:off x="7525512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55" name="Text 42"/>
          <p:cNvSpPr/>
          <p:nvPr/>
        </p:nvSpPr>
        <p:spPr>
          <a:xfrm>
            <a:off x="7178040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check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compliance</a:t>
            </a:r>
            <a:endParaRPr lang="en-US" sz="830" dirty="0"/>
          </a:p>
        </p:txBody>
      </p:sp>
      <p:pic>
        <p:nvPicPr>
          <p:cNvPr id="56" name="Image 11" descr="assets/icon_arrowRight_blu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4626864"/>
            <a:ext cx="164592" cy="164592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9217152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9345168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59" name="Text 45"/>
          <p:cNvSpPr/>
          <p:nvPr/>
        </p:nvSpPr>
        <p:spPr>
          <a:xfrm>
            <a:off x="93451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60" name="Text 46"/>
          <p:cNvSpPr/>
          <p:nvPr/>
        </p:nvSpPr>
        <p:spPr>
          <a:xfrm>
            <a:off x="9692640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XML</a:t>
            </a:r>
            <a:endParaRPr lang="en-US" sz="1100" dirty="0"/>
          </a:p>
        </p:txBody>
      </p:sp>
      <p:sp>
        <p:nvSpPr>
          <p:cNvPr id="61" name="Text 47"/>
          <p:cNvSpPr/>
          <p:nvPr/>
        </p:nvSpPr>
        <p:spPr>
          <a:xfrm>
            <a:off x="9345168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</a:t>
            </a:r>
            <a:endParaRPr lang="en-US" sz="830" dirty="0"/>
          </a:p>
        </p:txBody>
      </p:sp>
      <p:sp>
        <p:nvSpPr>
          <p:cNvPr id="62" name="Shape 48"/>
          <p:cNvSpPr/>
          <p:nvPr/>
        </p:nvSpPr>
        <p:spPr>
          <a:xfrm>
            <a:off x="548640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3" name="Image 12" descr="assets/icon_zap_blu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" y="5504688"/>
            <a:ext cx="219456" cy="219456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87552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non-blocking FastAPI</a:t>
            </a:r>
            <a:endParaRPr lang="en-US" sz="860" dirty="0"/>
          </a:p>
        </p:txBody>
      </p:sp>
      <p:sp>
        <p:nvSpPr>
          <p:cNvPr id="65" name="Shape 50"/>
          <p:cNvSpPr/>
          <p:nvPr/>
        </p:nvSpPr>
        <p:spPr>
          <a:xfrm>
            <a:off x="3346704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6" name="Image 13" descr="assets/icon_trendingUp_blu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3008" y="5504688"/>
            <a:ext cx="219456" cy="219456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3785616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— horizontally scalable</a:t>
            </a:r>
            <a:endParaRPr lang="en-US" sz="860" dirty="0"/>
          </a:p>
        </p:txBody>
      </p:sp>
      <p:sp>
        <p:nvSpPr>
          <p:cNvPr id="68" name="Shape 52"/>
          <p:cNvSpPr/>
          <p:nvPr/>
        </p:nvSpPr>
        <p:spPr>
          <a:xfrm>
            <a:off x="6144768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9" name="Image 14" descr="assets/icon_layers_blu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1072" y="5504688"/>
            <a:ext cx="219456" cy="219456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6583680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config via env variables</a:t>
            </a:r>
            <a:endParaRPr lang="en-US" sz="860" dirty="0"/>
          </a:p>
        </p:txBody>
      </p:sp>
      <p:sp>
        <p:nvSpPr>
          <p:cNvPr id="71" name="Shape 54"/>
          <p:cNvSpPr/>
          <p:nvPr/>
        </p:nvSpPr>
        <p:spPr>
          <a:xfrm>
            <a:off x="8942832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72" name="Image 15" descr="assets/icon_lock_blu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9136" y="5504688"/>
            <a:ext cx="219456" cy="219456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9381744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for secrets</a:t>
            </a:r>
            <a:endParaRPr lang="en-US" sz="860" dirty="0"/>
          </a:p>
        </p:txBody>
      </p:sp>
      <p:sp>
        <p:nvSpPr>
          <p:cNvPr id="75" name="Text 5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76" name="Text 5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7" name="Text 58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Enterprise-Grade Design — PayOrch Standards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monito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099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90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 + Vite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3566160" y="15087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responsive design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/ optimised build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313432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496312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2" name="Image 1" descr="assets/icon_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60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3865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2588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 Schemas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3566160" y="24048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/transform /reverse /health /validation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throughout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auto-generated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3209544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39242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8" name="Image 2" descr="assets/icon_layer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021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82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25880" y="3575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TransformationService · ReverseOrchestrator</a:t>
            </a:r>
            <a:endParaRPr lang="en-US" sz="880" dirty="0"/>
          </a:p>
        </p:txBody>
      </p:sp>
      <p:sp>
        <p:nvSpPr>
          <p:cNvPr id="21" name="Text 16"/>
          <p:cNvSpPr/>
          <p:nvPr/>
        </p:nvSpPr>
        <p:spPr>
          <a:xfrm>
            <a:off x="3566160" y="330098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Parser · MX Generator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Service · Validation Service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orchestration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105656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E63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288536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4" name="Image 3" descr="assets/icon_gitBranch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3982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325880" y="4471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880" dirty="0"/>
          </a:p>
        </p:txBody>
      </p:sp>
      <p:sp>
        <p:nvSpPr>
          <p:cNvPr id="27" name="Text 21"/>
          <p:cNvSpPr/>
          <p:nvPr/>
        </p:nvSpPr>
        <p:spPr>
          <a:xfrm>
            <a:off x="3566160" y="41970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 — MT→MX field mapping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Agent — LEI / purpose codes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· XML Parser Agent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458200" y="14173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0B2E63"/>
          </a:solidFill>
          <a:ln/>
        </p:spPr>
      </p:sp>
      <p:pic>
        <p:nvPicPr>
          <p:cNvPr id="29" name="Image 4" descr="assets/icon_cpu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158191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1545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05256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 · LLM enrichment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458200" y="2514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AF3FD"/>
          </a:solidFill>
          <a:ln/>
        </p:spPr>
      </p:sp>
      <p:pic>
        <p:nvPicPr>
          <p:cNvPr id="33" name="Image 5" descr="assets/icon_databas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368" y="267919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2642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(roadmap)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05256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Message persistence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48640" y="5111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48640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pic>
        <p:nvPicPr>
          <p:cNvPr id="38" name="Image 6" descr="assets/icon_layers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5568696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42416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1042416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BaseSettings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+ Azure Key Vault</a:t>
            </a:r>
            <a:endParaRPr lang="en-US" sz="780" dirty="0"/>
          </a:p>
        </p:txBody>
      </p:sp>
      <p:sp>
        <p:nvSpPr>
          <p:cNvPr id="41" name="Shape 32"/>
          <p:cNvSpPr/>
          <p:nvPr/>
        </p:nvSpPr>
        <p:spPr>
          <a:xfrm>
            <a:off x="3438144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pic>
        <p:nvPicPr>
          <p:cNvPr id="42" name="Image 7" descr="assets/icon_fileText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4448" y="5568696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931920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3931920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Observability-ready</a:t>
            </a:r>
            <a:endParaRPr lang="en-US" sz="780" dirty="0"/>
          </a:p>
        </p:txBody>
      </p:sp>
      <p:sp>
        <p:nvSpPr>
          <p:cNvPr id="45" name="Shape 35"/>
          <p:cNvSpPr/>
          <p:nvPr/>
        </p:nvSpPr>
        <p:spPr>
          <a:xfrm>
            <a:off x="6327648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pic>
        <p:nvPicPr>
          <p:cNvPr id="46" name="Image 8" descr="assets/icon_eye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5568696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21424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50" dirty="0"/>
          </a:p>
        </p:txBody>
      </p:sp>
      <p:sp>
        <p:nvSpPr>
          <p:cNvPr id="48" name="Text 37"/>
          <p:cNvSpPr/>
          <p:nvPr/>
        </p:nvSpPr>
        <p:spPr>
          <a:xfrm>
            <a:off x="6821424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monitoring</a:t>
            </a:r>
            <a:endParaRPr lang="en-US" sz="780" dirty="0"/>
          </a:p>
        </p:txBody>
      </p:sp>
      <p:sp>
        <p:nvSpPr>
          <p:cNvPr id="49" name="Shape 38"/>
          <p:cNvSpPr/>
          <p:nvPr/>
        </p:nvSpPr>
        <p:spPr>
          <a:xfrm>
            <a:off x="9217152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8000"/>
              </a:srgbClr>
            </a:outerShdw>
          </a:effectLst>
        </p:spPr>
      </p:sp>
      <p:pic>
        <p:nvPicPr>
          <p:cNvPr id="50" name="Image 9" descr="assets/icon_box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63456" y="5568696"/>
            <a:ext cx="237744" cy="23774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710928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52" name="Text 40"/>
          <p:cNvSpPr/>
          <p:nvPr/>
        </p:nvSpPr>
        <p:spPr>
          <a:xfrm>
            <a:off x="9710928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containers</a:t>
            </a:r>
            <a:endParaRPr lang="en-US" sz="780" dirty="0"/>
          </a:p>
        </p:txBody>
      </p:sp>
      <p:sp>
        <p:nvSpPr>
          <p:cNvPr id="54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55" name="Text 4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MT103 → pacs.008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Wire Transfer — USD 50,000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61A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MT103 (Legacy SWIFT)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:20:REFMT103001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:23B:CRED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:32A:260605USD50000,00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:50K:/123456789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JOHN DOE, MUMBAI, INDIA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:59:/987654321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JANE SMITH, NEW YORK, USA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:71A:SHA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28255" y="16002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D1F3D"/>
          </a:solidFill>
          <a:ln/>
        </p:spPr>
      </p:sp>
      <p:sp>
        <p:nvSpPr>
          <p:cNvPr id="9" name="Text 7"/>
          <p:cNvSpPr/>
          <p:nvPr/>
        </p:nvSpPr>
        <p:spPr>
          <a:xfrm>
            <a:off x="7711135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pacs.008 XML (ISO 20022)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11135" y="20574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&lt;FIToFICstmrCdtTrf&gt;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&lt;GrpHdr&gt;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&lt;MsgId&gt;REFMT103001&lt;/MsgId&gt;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&lt;NbOfTxs&gt;1&lt;/NbOfTxs&gt;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&lt;/GrpHdr&gt;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&lt;CdtTrfTxInf&gt;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&lt;IntrBkSttlmAmt Ccy='USD'&gt;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50000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&lt;/IntrBkSttlmAmt&gt;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&lt;ChrgBr&gt;SHAR&lt;/ChrgBr&gt;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&lt;/CdtTrfTxInf&gt;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&lt;/FIToFICstmrCdtTrf&gt;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&lt;/Document&gt;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773936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664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911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MT103 · Extract tags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892040" y="227685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450592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:20:→MsgId · :32A:→SttlmAmt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892040" y="2953512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127248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3017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(LLM)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infers LEI, purpose codes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892040" y="3630168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2E6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3803904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schema check vs pacs.008</a:t>
            </a:r>
            <a:endParaRPr lang="en-US" sz="780" dirty="0"/>
          </a:p>
        </p:txBody>
      </p:sp>
      <p:pic>
        <p:nvPicPr>
          <p:cNvPr id="31" name="Image 0" descr="assets/icon_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843784"/>
            <a:ext cx="256032" cy="256032"/>
          </a:xfrm>
          <a:prstGeom prst="rect">
            <a:avLst/>
          </a:prstGeom>
        </p:spPr>
      </p:pic>
      <p:pic>
        <p:nvPicPr>
          <p:cNvPr id="32" name="Image 1" descr="assets/icon_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843784"/>
            <a:ext cx="256032" cy="256032"/>
          </a:xfrm>
          <a:prstGeom prst="rect">
            <a:avLst/>
          </a:prstGeom>
        </p:spPr>
      </p:pic>
      <p:pic>
        <p:nvPicPr>
          <p:cNvPr id="33" name="Image 2" descr="assets/icon_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04672" y="45445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</a:t>
            </a:r>
            <a:endParaRPr lang="en-US" sz="1050" dirty="0"/>
          </a:p>
        </p:txBody>
      </p:sp>
      <p:pic>
        <p:nvPicPr>
          <p:cNvPr id="35" name="Image 3" descr="assets/icon_checkCircl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4572000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761488" y="45445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(MX → MT reverse supported)</a:t>
            </a:r>
            <a:endParaRPr lang="en-US" sz="1050" dirty="0"/>
          </a:p>
        </p:txBody>
      </p:sp>
      <p:pic>
        <p:nvPicPr>
          <p:cNvPr id="37" name="Image 4" descr="assets/icon_checkCircl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57200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75704" y="4544568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5047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TARGETS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4864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1" name="Text 34"/>
          <p:cNvSpPr/>
          <p:nvPr/>
        </p:nvSpPr>
        <p:spPr>
          <a:xfrm>
            <a:off x="77724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   </a:t>
            </a:r>
            <a:pPr indent="0" marL="0">
              <a:buNone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transform time per message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434340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3" name="Text 36"/>
          <p:cNvSpPr/>
          <p:nvPr/>
        </p:nvSpPr>
        <p:spPr>
          <a:xfrm>
            <a:off x="457200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  </a:t>
            </a:r>
            <a:pPr indent="0" marL="0">
              <a:buNone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messages/day processing target</a:t>
            </a:r>
            <a:endParaRPr lang="en-US" sz="2000" dirty="0"/>
          </a:p>
        </p:txBody>
      </p:sp>
      <p:sp>
        <p:nvSpPr>
          <p:cNvPr id="44" name="Shape 37"/>
          <p:cNvSpPr/>
          <p:nvPr/>
        </p:nvSpPr>
        <p:spPr>
          <a:xfrm>
            <a:off x="813816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5" name="Text 38"/>
          <p:cNvSpPr/>
          <p:nvPr/>
        </p:nvSpPr>
        <p:spPr>
          <a:xfrm>
            <a:off x="836676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  </a:t>
            </a:r>
            <a:pPr indent="0" marL="0">
              <a:buNone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accuracy</a:t>
            </a:r>
            <a:endParaRPr lang="en-US" sz="2000" dirty="0"/>
          </a:p>
        </p:txBody>
      </p:sp>
      <p:sp>
        <p:nvSpPr>
          <p:cNvPr id="47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Roadmap — Foundation to Production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(PayOrch)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MT ↔ MX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message pairs (101/103/202)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UI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rules + LLM mode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93592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93592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LangGraph agent wiring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field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 on SWIFT corpus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Auto-enrichment: LEI / BIC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55664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55664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persistence &amp; audit trail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 tracing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secrets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34856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17736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17736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MT700, MT900+ message types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connectivity integration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 dirty="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module</a:t>
            </a:r>
            <a:endParaRPr lang="en-US" sz="950" dirty="0"/>
          </a:p>
        </p:txBody>
      </p:sp>
      <p:pic>
        <p:nvPicPr>
          <p:cNvPr id="20" name="Image 0" descr="assets/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03520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9536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 </a:t>
            </a:r>
            <a:pPr indent="0" marL="0">
              <a:buNone/>
            </a:pPr>
            <a:r>
              <a:rPr lang="en-US" sz="95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+ intelligence</a:t>
            </a:r>
            <a:endParaRPr lang="en-US" sz="950" dirty="0"/>
          </a:p>
        </p:txBody>
      </p:sp>
      <p:pic>
        <p:nvPicPr>
          <p:cNvPr id="22" name="Image 1" descr="assets/icon_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530352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21608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 </a:t>
            </a:r>
            <a:pPr indent="0" marL="0">
              <a:buNone/>
            </a:pPr>
            <a:r>
              <a:rPr lang="en-US" sz="95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legacy fallback</a:t>
            </a:r>
            <a:endParaRPr lang="en-US" sz="950" dirty="0"/>
          </a:p>
        </p:txBody>
      </p:sp>
      <p:pic>
        <p:nvPicPr>
          <p:cNvPr id="24" name="Image 2" descr="assets/icon_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530352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 </a:t>
            </a:r>
            <a:pPr indent="0" marL="0">
              <a:buNone/>
            </a:pPr>
            <a:r>
              <a:rPr lang="en-US" sz="95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Azure-first, containerised</a:t>
            </a:r>
            <a:endParaRPr lang="en-US" sz="950" dirty="0"/>
          </a:p>
        </p:txBody>
      </p:sp>
      <p:pic>
        <p:nvPicPr>
          <p:cNvPr id="26" name="Image 3" descr="assets/icon_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6" y="530352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45752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Observability-first  </a:t>
            </a:r>
            <a:pPr indent="0" marL="0">
              <a:buNone/>
            </a:pPr>
            <a:r>
              <a:rPr lang="en-US" sz="95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tracing built-in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 Enterprise-Proven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0B2E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60520" y="1417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43800" y="14173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9" name="Image 0" descr="assets/icon_monito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881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801368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60520" y="1801368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 + Vite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1801368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component-based UI</a:t>
            </a:r>
            <a:endParaRPr lang="en-US" sz="950" dirty="0"/>
          </a:p>
        </p:txBody>
      </p:sp>
      <p:pic>
        <p:nvPicPr>
          <p:cNvPr id="13" name="Image 1" descr="assets/icon_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2486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217420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60520" y="2217420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543800" y="221742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REST, schema validation, OpenAPI docs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2633472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18" name="Image 2" descr="assets/icon_gitBranch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4091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33472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160520" y="2633472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43800" y="2633472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agentic AI workflows</a:t>
            </a:r>
            <a:endParaRPr lang="en-US" sz="950" dirty="0"/>
          </a:p>
        </p:txBody>
      </p:sp>
      <p:pic>
        <p:nvPicPr>
          <p:cNvPr id="22" name="Image 3" descr="assets/icon_cpu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5696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049524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160520" y="30495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543800" y="3049524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mapping &amp; field enrichment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3465576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27" name="Image 4" descr="assets/icon_layers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7301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3465576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160520" y="3465576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BaseSettings + .env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7543800" y="3465576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12-factor, environment-scoped configuration</a:t>
            </a:r>
            <a:endParaRPr lang="en-US" sz="950" dirty="0"/>
          </a:p>
        </p:txBody>
      </p:sp>
      <p:pic>
        <p:nvPicPr>
          <p:cNvPr id="31" name="Image 5" descr="assets/icon_fileText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8907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5840" y="3881628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160520" y="3881628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Logger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543800" y="3881628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observability, grep-friendly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297680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36" name="Image 6" descr="assets/icon_eye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405122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5840" y="4297680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160520" y="4297680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7543800" y="429768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tracing &amp; performance monitoring</a:t>
            </a:r>
            <a:endParaRPr lang="en-US" sz="950" dirty="0"/>
          </a:p>
        </p:txBody>
      </p:sp>
      <p:pic>
        <p:nvPicPr>
          <p:cNvPr id="40" name="Image 7" descr="assets/icon_database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21174"/>
            <a:ext cx="201168" cy="20116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05840" y="4713732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4160520" y="4713732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 (roadmap)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7543800" y="4713732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message persistence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548640" y="5129784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45" name="Image 8" descr="assets/icon_box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237226"/>
            <a:ext cx="201168" cy="20116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005840" y="5129784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47" name="Text 36"/>
          <p:cNvSpPr/>
          <p:nvPr/>
        </p:nvSpPr>
        <p:spPr>
          <a:xfrm>
            <a:off x="4160520" y="512978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543800" y="5129784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&amp; cloud deployment</a:t>
            </a:r>
            <a:endParaRPr lang="en-US" sz="950" dirty="0"/>
          </a:p>
        </p:txBody>
      </p:sp>
      <p:pic>
        <p:nvPicPr>
          <p:cNvPr id="49" name="Image 9" descr="assets/icon_lock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653278"/>
            <a:ext cx="201168" cy="20116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005840" y="5545836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50" dirty="0"/>
          </a:p>
        </p:txBody>
      </p:sp>
      <p:sp>
        <p:nvSpPr>
          <p:cNvPr id="51" name="Text 39"/>
          <p:cNvSpPr/>
          <p:nvPr/>
        </p:nvSpPr>
        <p:spPr>
          <a:xfrm>
            <a:off x="4160520" y="5545836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(integration-ready)</a:t>
            </a:r>
            <a:endParaRPr lang="en-US" sz="1000" dirty="0"/>
          </a:p>
        </p:txBody>
      </p:sp>
      <p:sp>
        <p:nvSpPr>
          <p:cNvPr id="52" name="Text 40"/>
          <p:cNvSpPr/>
          <p:nvPr/>
        </p:nvSpPr>
        <p:spPr>
          <a:xfrm>
            <a:off x="7543800" y="5545836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 management</a:t>
            </a:r>
            <a:endParaRPr lang="en-US" sz="950" dirty="0"/>
          </a:p>
        </p:txBody>
      </p:sp>
      <p:sp>
        <p:nvSpPr>
          <p:cNvPr id="5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20022 GenAI Migration Platform</dc:title>
  <dc:subject>PptxGenJS Presentation</dc:subject>
  <dc:creator>Microsoft Build 2026</dc:creator>
  <cp:lastModifiedBy>Microsoft Build 2026</cp:lastModifiedBy>
  <cp:revision>1</cp:revision>
  <dcterms:created xsi:type="dcterms:W3CDTF">2026-07-02T10:31:44Z</dcterms:created>
  <dcterms:modified xsi:type="dcterms:W3CDTF">2026-07-02T10:31:44Z</dcterms:modified>
</cp:coreProperties>
</file>