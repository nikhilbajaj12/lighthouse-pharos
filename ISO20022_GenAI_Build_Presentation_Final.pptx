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E0CB18-09A1-A786-C070-D926418451D6}" v="13" dt="2026-07-02T10:50:26.931"/>
    <p1510:client id="{D53B5A4F-7680-3562-C906-6F627FF8B9E8}" v="233" dt="2026-07-02T11:43:17.975"/>
    <p1510:client id="{E9B4F453-C247-8672-EC4F-05931CB24B39}" v="1" dt="2026-07-02T10:53:48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7F353-0D9D-4DAF-B133-2AC372D9A3A3}" type="datetimeFigureOut"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4EB76-6918-4E25-BD70-69F2C930680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80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platform automates the SWIFT MT to ISO 20022 migration using AI agents — solving a major industry-wide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Banks face a hard deadline. Manual migration is slow, error-prone, and impossible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We've built an agentic pipeline that parses, maps, enriches and validates — automatically — in both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platform is a clean layered REST service backed by a LangGraph agent workflow and Azure OpenAI.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Four clean layers — UI, API, Services, Agents — following PayOrch enterprise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 me show you a live MT103 input producing a compliant pacs.008 XML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We're live with the foundation. Phase 2 wires in full LLM intelligence. Phase 3 makes it enterprise-ready.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0.png"/><Relationship Id="rId5" Type="http://schemas.openxmlformats.org/officeDocument/2006/relationships/image" Target="../media/image13.png"/><Relationship Id="rId10" Type="http://schemas.openxmlformats.org/officeDocument/2006/relationships/image" Target="../media/image19.png"/><Relationship Id="rId4" Type="http://schemas.openxmlformats.org/officeDocument/2006/relationships/image" Target="../media/image11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5.png"/><Relationship Id="rId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96596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</a:t>
            </a:r>
            <a:endParaRPr lang="en-US" sz="540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Platform</a:t>
            </a:r>
            <a:endParaRPr lang="en-US" sz="5400"/>
          </a:p>
        </p:txBody>
      </p:sp>
      <p:sp>
        <p:nvSpPr>
          <p:cNvPr id="6" name="Text 4"/>
          <p:cNvSpPr/>
          <p:nvPr/>
        </p:nvSpPr>
        <p:spPr>
          <a:xfrm>
            <a:off x="658368" y="3611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SWIFT MT  →  ISO 20022 MX Transformation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658368" y="4023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future of cross-border payments with agentic AI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658368" y="4709160"/>
            <a:ext cx="1890979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0E6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709160"/>
            <a:ext cx="18909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MT ↔ MX 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95651" y="4709160"/>
            <a:ext cx="1488643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0E6F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5651" y="4709160"/>
            <a:ext cx="14886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LangGraph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Agents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30598" y="4709160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0E6FF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0598" y="470916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FastAPI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+ React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85078" y="4709160"/>
            <a:ext cx="173004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0E6F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85078" y="4709160"/>
            <a:ext cx="17300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+mn-lt"/>
                <a:cs typeface="+mn-lt"/>
              </a:rPr>
              <a:t>Cloud AI Services</a:t>
            </a:r>
            <a:endParaRPr lang="en-US" sz="1200" b="1"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FA8D6"/>
                </a:solidFill>
                <a:latin typeface="Calibri"/>
                <a:ea typeface="Calibri"/>
                <a:cs typeface="Calibri"/>
              </a:rPr>
              <a:t>Enterprise-grade  |  July 2026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SWIFT MT Sunset Is Here — Are Banks Ready?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4348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55064"/>
            <a:ext cx="512064" cy="512064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6" name="Image 0" descr="assets/icon_clo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17830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Deadline</a:t>
            </a:r>
            <a:endParaRPr lang="en-US" sz="1450"/>
          </a:p>
        </p:txBody>
      </p:sp>
      <p:sp>
        <p:nvSpPr>
          <p:cNvPr id="8" name="Text 5"/>
          <p:cNvSpPr/>
          <p:nvPr/>
        </p:nvSpPr>
        <p:spPr>
          <a:xfrm>
            <a:off x="804672" y="20756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mandates full migration from MT to ISO 20022 MX. Co-existence period ended Nov 2025 — non-compliance is not an option.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5212080" y="1417320"/>
            <a:ext cx="44348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68112" y="1655064"/>
            <a:ext cx="512064" cy="512064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11" name="Image 1" descr="assets/icon_layers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178308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Manual Mapping</a:t>
            </a:r>
            <a:endParaRPr lang="en-US" sz="1450"/>
          </a:p>
        </p:txBody>
      </p:sp>
      <p:sp>
        <p:nvSpPr>
          <p:cNvPr id="13" name="Text 9"/>
          <p:cNvSpPr/>
          <p:nvPr/>
        </p:nvSpPr>
        <p:spPr>
          <a:xfrm>
            <a:off x="5468112" y="20756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messages are flat tag-based text; MX messages are hierarchical XML. Manual field mapping is error-prone and unsustainable at scale.</a:t>
            </a:r>
            <a:endParaRPr lang="en-US" sz="1100"/>
          </a:p>
        </p:txBody>
      </p:sp>
      <p:sp>
        <p:nvSpPr>
          <p:cNvPr id="14" name="Shape 10"/>
          <p:cNvSpPr/>
          <p:nvPr/>
        </p:nvSpPr>
        <p:spPr>
          <a:xfrm>
            <a:off x="548640" y="3081528"/>
            <a:ext cx="44348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19272"/>
            <a:ext cx="512064" cy="512064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16" name="Image 2" descr="assets/icon_databas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44728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8269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Data Gap</a:t>
            </a:r>
            <a:endParaRPr lang="en-US" sz="1450"/>
          </a:p>
        </p:txBody>
      </p:sp>
      <p:sp>
        <p:nvSpPr>
          <p:cNvPr id="18" name="Text 13"/>
          <p:cNvSpPr/>
          <p:nvPr/>
        </p:nvSpPr>
        <p:spPr>
          <a:xfrm>
            <a:off x="804672" y="373989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MX demands LEI codes, purpose codes &amp; structured addresses that simply don't exist in legacy MT messages.</a:t>
            </a:r>
            <a:endParaRPr lang="en-US" sz="1100"/>
          </a:p>
        </p:txBody>
      </p:sp>
      <p:sp>
        <p:nvSpPr>
          <p:cNvPr id="19" name="Shape 14"/>
          <p:cNvSpPr/>
          <p:nvPr/>
        </p:nvSpPr>
        <p:spPr>
          <a:xfrm>
            <a:off x="5212080" y="3125071"/>
            <a:ext cx="44348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68112" y="3319272"/>
            <a:ext cx="512064" cy="512064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21" name="Image 3" descr="assets/icon_trendingUp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128" y="344728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26480" y="328269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Challenge</a:t>
            </a:r>
            <a:endParaRPr lang="en-US" sz="1450"/>
          </a:p>
        </p:txBody>
      </p:sp>
      <p:sp>
        <p:nvSpPr>
          <p:cNvPr id="23" name="Text 17"/>
          <p:cNvSpPr/>
          <p:nvPr/>
        </p:nvSpPr>
        <p:spPr>
          <a:xfrm>
            <a:off x="5468112" y="373989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process millions of payment messages daily. Manual pipelines cannot match the required throughput.</a:t>
            </a:r>
            <a:endParaRPr lang="en-US" sz="1100"/>
          </a:p>
        </p:txBody>
      </p:sp>
      <p:sp>
        <p:nvSpPr>
          <p:cNvPr id="24" name="Shape 18"/>
          <p:cNvSpPr/>
          <p:nvPr/>
        </p:nvSpPr>
        <p:spPr>
          <a:xfrm>
            <a:off x="548640" y="4745736"/>
            <a:ext cx="44348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983480"/>
            <a:ext cx="512064" cy="512064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26" name="Image 4" descr="assets/icon_shield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" y="511149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9469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Settlement Risk</a:t>
            </a:r>
            <a:endParaRPr lang="en-US" sz="1450"/>
          </a:p>
        </p:txBody>
      </p:sp>
      <p:sp>
        <p:nvSpPr>
          <p:cNvPr id="28" name="Text 21"/>
          <p:cNvSpPr/>
          <p:nvPr/>
        </p:nvSpPr>
        <p:spPr>
          <a:xfrm>
            <a:off x="804672" y="540410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field mapping causes failed settlements, regulatory penalties and reputational damage.</a:t>
            </a:r>
            <a:endParaRPr lang="en-US" sz="1100"/>
          </a:p>
        </p:txBody>
      </p:sp>
      <p:sp>
        <p:nvSpPr>
          <p:cNvPr id="29" name="Shape 22"/>
          <p:cNvSpPr/>
          <p:nvPr/>
        </p:nvSpPr>
        <p:spPr>
          <a:xfrm>
            <a:off x="5212080" y="4745736"/>
            <a:ext cx="4434840" cy="1481328"/>
          </a:xfrm>
          <a:prstGeom prst="roundRect">
            <a:avLst>
              <a:gd name="adj" fmla="val 6173"/>
            </a:avLst>
          </a:prstGeom>
          <a:solidFill>
            <a:srgbClr val="0B2E63"/>
          </a:solidFill>
          <a:ln/>
          <a:effectLst>
            <a:outerShdw blurRad="152400" dist="38100" dir="5400000" algn="bl" rotWithShape="0">
              <a:srgbClr val="0B2E63">
                <a:alpha val="18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5486400" y="492861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~$500B+</a:t>
            </a:r>
            <a:endParaRPr lang="en-US" sz="3600"/>
          </a:p>
        </p:txBody>
      </p:sp>
      <p:sp>
        <p:nvSpPr>
          <p:cNvPr id="31" name="Text 24"/>
          <p:cNvSpPr/>
          <p:nvPr/>
        </p:nvSpPr>
        <p:spPr>
          <a:xfrm>
            <a:off x="5486400" y="561441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cross-border payments at risk of non-compliance</a:t>
            </a:r>
            <a:endParaRPr lang="en-US" sz="125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/>
          </a:p>
        </p:txBody>
      </p:sp>
      <p:sp>
        <p:nvSpPr>
          <p:cNvPr id="34" name="Text 26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/>
          </a:p>
        </p:txBody>
      </p:sp>
      <p:sp>
        <p:nvSpPr>
          <p:cNvPr id="35" name="Text 27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340"/>
                </a:solidFill>
                <a:latin typeface="Calibri"/>
                <a:ea typeface="Calibri"/>
                <a:cs typeface="Calibri"/>
              </a:rPr>
              <a:t>Agentic AI to Automate MT ↔ MX </a:t>
            </a:r>
            <a:r>
              <a:rPr lang="en-US" sz="3000" b="1">
                <a:solidFill>
                  <a:srgbClr val="0B2340"/>
                </a:solidFill>
                <a:latin typeface="Calibri"/>
                <a:ea typeface="Calibri"/>
                <a:cs typeface="Calibri"/>
              </a:rPr>
              <a:t>Transformation</a:t>
            </a:r>
            <a:endParaRPr lang="en-US" sz="3000" dirty="0" err="1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that automatically parses legacy SWIFT MT messages, maps fields to ISO 20022 MX schema, enriches missing data using LLM reasoning, and generates schema-validated XML — fully automated and bidirectional.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0F6CBD"/>
          </a:solidFill>
          <a:ln/>
        </p:spPr>
      </p:sp>
      <p:pic>
        <p:nvPicPr>
          <p:cNvPr id="7" name="Image 0" descr="assets/icon_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423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89385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822960" y="324133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pipeline</a:t>
            </a:r>
            <a:endParaRPr lang="en-US" sz="105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· Mapping · Enrichment</a:t>
            </a:r>
            <a:endParaRPr lang="en-US" sz="105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XML generation</a:t>
            </a:r>
            <a:endParaRPr lang="en-US" sz="105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per field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286000"/>
            <a:ext cx="548640" cy="548640"/>
          </a:xfrm>
          <a:prstGeom prst="ellipse">
            <a:avLst/>
          </a:prstGeom>
          <a:solidFill>
            <a:srgbClr val="0F6CBD"/>
          </a:solidFill>
          <a:ln/>
        </p:spPr>
      </p:sp>
      <p:pic>
        <p:nvPicPr>
          <p:cNvPr id="12" name="Image 1" descr="assets/icon_rep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4231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89385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</a:t>
            </a:r>
            <a:endParaRPr lang="en-US" sz="1600"/>
          </a:p>
        </p:txBody>
      </p:sp>
      <p:sp>
        <p:nvSpPr>
          <p:cNvPr id="14" name="Text 10"/>
          <p:cNvSpPr/>
          <p:nvPr/>
        </p:nvSpPr>
        <p:spPr>
          <a:xfrm>
            <a:off x="4617720" y="322681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→ MX and MX → MT</a:t>
            </a:r>
            <a:endParaRPr lang="en-US" sz="105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reverse transformation</a:t>
            </a:r>
            <a:endParaRPr lang="en-US" sz="105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fallback supported</a:t>
            </a:r>
            <a:endParaRPr lang="en-US" sz="105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loss guarantee</a:t>
            </a:r>
            <a:endParaRPr lang="en-US" sz="1050"/>
          </a:p>
        </p:txBody>
      </p:sp>
      <p:sp>
        <p:nvSpPr>
          <p:cNvPr id="15" name="Shape 11"/>
          <p:cNvSpPr/>
          <p:nvPr/>
        </p:nvSpPr>
        <p:spPr>
          <a:xfrm>
            <a:off x="8138160" y="20116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286000"/>
            <a:ext cx="548640" cy="548640"/>
          </a:xfrm>
          <a:prstGeom prst="ellipse">
            <a:avLst/>
          </a:prstGeom>
          <a:solidFill>
            <a:srgbClr val="0F6CBD"/>
          </a:solidFill>
          <a:ln/>
        </p:spPr>
      </p:sp>
      <p:pic>
        <p:nvPicPr>
          <p:cNvPr id="17" name="Image 2" descr="assets/icon_checkCirc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24231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289385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Output</a:t>
            </a:r>
            <a:endParaRPr lang="en-US" sz="1600"/>
          </a:p>
        </p:txBody>
      </p:sp>
      <p:sp>
        <p:nvSpPr>
          <p:cNvPr id="19" name="Text 14"/>
          <p:cNvSpPr/>
          <p:nvPr/>
        </p:nvSpPr>
        <p:spPr>
          <a:xfrm>
            <a:off x="8412480" y="324133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Schema-validated ISO 20022 XML</a:t>
            </a:r>
            <a:endParaRPr lang="en-US" sz="105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pain.001 · pacs.008 · pacs.009</a:t>
            </a:r>
            <a:endParaRPr lang="en-US" sz="105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output</a:t>
            </a:r>
            <a:endParaRPr lang="en-US" sz="105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on every transform</a:t>
            </a:r>
            <a:endParaRPr lang="en-US" sz="1050"/>
          </a:p>
        </p:txBody>
      </p:sp>
      <p:sp>
        <p:nvSpPr>
          <p:cNvPr id="20" name="Text 15"/>
          <p:cNvSpPr/>
          <p:nvPr/>
        </p:nvSpPr>
        <p:spPr>
          <a:xfrm>
            <a:off x="548640" y="4233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MESSAGE PAIRS</a:t>
            </a:r>
            <a:endParaRPr lang="en-US" sz="1100"/>
          </a:p>
        </p:txBody>
      </p:sp>
      <p:sp>
        <p:nvSpPr>
          <p:cNvPr id="21" name="Shape 16"/>
          <p:cNvSpPr/>
          <p:nvPr/>
        </p:nvSpPr>
        <p:spPr>
          <a:xfrm>
            <a:off x="548640" y="4562856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EAF3FD"/>
          </a:solidFill>
          <a:ln/>
        </p:spPr>
      </p:sp>
      <p:sp>
        <p:nvSpPr>
          <p:cNvPr id="22" name="Text 17"/>
          <p:cNvSpPr/>
          <p:nvPr/>
        </p:nvSpPr>
        <p:spPr>
          <a:xfrm>
            <a:off x="749808" y="4636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MT101</a:t>
            </a:r>
            <a:r>
              <a:rPr lang="en-US" sz="1300" b="1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↔  </a:t>
            </a:r>
            <a:r>
              <a:rPr lang="en-US" sz="1300" b="1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pain.001</a:t>
            </a:r>
            <a:endParaRPr lang="en-US" sz="1300"/>
          </a:p>
        </p:txBody>
      </p:sp>
      <p:sp>
        <p:nvSpPr>
          <p:cNvPr id="23" name="Text 18"/>
          <p:cNvSpPr/>
          <p:nvPr/>
        </p:nvSpPr>
        <p:spPr>
          <a:xfrm>
            <a:off x="749808" y="49103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Payment Initiation</a:t>
            </a:r>
            <a:endParaRPr lang="en-US" sz="1000"/>
          </a:p>
        </p:txBody>
      </p:sp>
      <p:sp>
        <p:nvSpPr>
          <p:cNvPr id="24" name="Shape 19"/>
          <p:cNvSpPr/>
          <p:nvPr/>
        </p:nvSpPr>
        <p:spPr>
          <a:xfrm>
            <a:off x="4343400" y="4562856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EAF3FD"/>
          </a:solidFill>
          <a:ln/>
        </p:spPr>
      </p:sp>
      <p:sp>
        <p:nvSpPr>
          <p:cNvPr id="25" name="Text 20"/>
          <p:cNvSpPr/>
          <p:nvPr/>
        </p:nvSpPr>
        <p:spPr>
          <a:xfrm>
            <a:off x="4544568" y="4636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MT103</a:t>
            </a:r>
            <a:r>
              <a:rPr lang="en-US" sz="1300" b="1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↔  </a:t>
            </a:r>
            <a:r>
              <a:rPr lang="en-US" sz="1300" b="1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pacs.008</a:t>
            </a:r>
            <a:endParaRPr lang="en-US" sz="1300"/>
          </a:p>
        </p:txBody>
      </p:sp>
      <p:sp>
        <p:nvSpPr>
          <p:cNvPr id="26" name="Text 21"/>
          <p:cNvSpPr/>
          <p:nvPr/>
        </p:nvSpPr>
        <p:spPr>
          <a:xfrm>
            <a:off x="4544568" y="49103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Credit Transfer</a:t>
            </a:r>
            <a:endParaRPr lang="en-US" sz="1000"/>
          </a:p>
        </p:txBody>
      </p:sp>
      <p:sp>
        <p:nvSpPr>
          <p:cNvPr id="27" name="Shape 22"/>
          <p:cNvSpPr/>
          <p:nvPr/>
        </p:nvSpPr>
        <p:spPr>
          <a:xfrm>
            <a:off x="8138160" y="4562856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EAF3FD"/>
          </a:solidFill>
          <a:ln/>
        </p:spPr>
      </p:sp>
      <p:sp>
        <p:nvSpPr>
          <p:cNvPr id="28" name="Text 23"/>
          <p:cNvSpPr/>
          <p:nvPr/>
        </p:nvSpPr>
        <p:spPr>
          <a:xfrm>
            <a:off x="8339328" y="4636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MT202</a:t>
            </a:r>
            <a:r>
              <a:rPr lang="en-US" sz="1300" b="1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↔  </a:t>
            </a:r>
            <a:r>
              <a:rPr lang="en-US" sz="1300" b="1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pacs.009</a:t>
            </a:r>
            <a:endParaRPr lang="en-US" sz="1300"/>
          </a:p>
        </p:txBody>
      </p:sp>
      <p:sp>
        <p:nvSpPr>
          <p:cNvPr id="29" name="Text 24"/>
          <p:cNvSpPr/>
          <p:nvPr/>
        </p:nvSpPr>
        <p:spPr>
          <a:xfrm>
            <a:off x="8339328" y="49103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 Transfer</a:t>
            </a:r>
            <a:endParaRPr lang="en-US" sz="1000"/>
          </a:p>
        </p:txBody>
      </p:sp>
      <p:sp>
        <p:nvSpPr>
          <p:cNvPr id="30" name="Text 25"/>
          <p:cNvSpPr/>
          <p:nvPr/>
        </p:nvSpPr>
        <p:spPr>
          <a:xfrm>
            <a:off x="548640" y="5404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MODES</a:t>
            </a:r>
            <a:endParaRPr lang="en-US" sz="1100"/>
          </a:p>
        </p:txBody>
      </p:sp>
      <p:sp>
        <p:nvSpPr>
          <p:cNvPr id="31" name="Shape 26"/>
          <p:cNvSpPr/>
          <p:nvPr/>
        </p:nvSpPr>
        <p:spPr>
          <a:xfrm>
            <a:off x="548640" y="5733288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77240" y="57332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  </a:t>
            </a:r>
            <a:r>
              <a:rPr lang="en-US" sz="9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rule-based mapping</a:t>
            </a:r>
            <a:endParaRPr lang="en-US" sz="1150"/>
          </a:p>
        </p:txBody>
      </p:sp>
      <p:sp>
        <p:nvSpPr>
          <p:cNvPr id="33" name="Shape 28"/>
          <p:cNvSpPr/>
          <p:nvPr/>
        </p:nvSpPr>
        <p:spPr>
          <a:xfrm>
            <a:off x="4343400" y="5733288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572000" y="57332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 err="1">
                <a:solidFill>
                  <a:srgbClr val="0B2E63"/>
                </a:solidFill>
                <a:latin typeface="Calibri"/>
                <a:ea typeface="Calibri"/>
                <a:cs typeface="Calibri"/>
              </a:rPr>
              <a:t>llm</a:t>
            </a:r>
            <a:r>
              <a:rPr lang="en-US" sz="1150" b="1" dirty="0">
                <a:solidFill>
                  <a:srgbClr val="0B2E63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950" dirty="0">
                <a:solidFill>
                  <a:srgbClr val="5B6B85"/>
                </a:solidFill>
                <a:latin typeface="Calibri"/>
                <a:ea typeface="Calibri"/>
                <a:cs typeface="Calibri"/>
              </a:rPr>
              <a:t> Powered semantic reasoning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8138160" y="5733288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0B2E63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366760" y="57332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  </a:t>
            </a: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first, LLM fills the gaps (default)</a:t>
            </a:r>
            <a:endParaRPr lang="en-US" sz="1150"/>
          </a:p>
        </p:txBody>
      </p:sp>
      <p:sp>
        <p:nvSpPr>
          <p:cNvPr id="38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/>
          </a:p>
        </p:txBody>
      </p:sp>
      <p:sp>
        <p:nvSpPr>
          <p:cNvPr id="39" name="Text 33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/>
          </a:p>
        </p:txBody>
      </p:sp>
      <p:sp>
        <p:nvSpPr>
          <p:cNvPr id="40" name="Text 34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DESIGN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 Flow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5044" y="1517904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6" name="Image 0" descr="assets/icon_monito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772" y="16276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01168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Consumer</a:t>
            </a:r>
            <a:endParaRPr lang="en-US" sz="1150"/>
          </a:p>
        </p:txBody>
      </p:sp>
      <p:sp>
        <p:nvSpPr>
          <p:cNvPr id="8" name="Text 5"/>
          <p:cNvSpPr/>
          <p:nvPr/>
        </p:nvSpPr>
        <p:spPr>
          <a:xfrm>
            <a:off x="658368" y="228600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6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86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6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Consumer</a:t>
            </a:r>
            <a:endParaRPr lang="en-US" sz="86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6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Gateway</a:t>
            </a:r>
            <a:endParaRPr lang="en-US" sz="860"/>
          </a:p>
        </p:txBody>
      </p:sp>
      <p:pic>
        <p:nvPicPr>
          <p:cNvPr id="9" name="Image 1" descr="assets/icon_arrowRigh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224" y="195224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91840" y="137160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38244" y="1517904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12" name="Image 2" descr="assets/icon_server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972" y="162763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01568" y="201168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50"/>
          </a:p>
        </p:txBody>
      </p:sp>
      <p:sp>
        <p:nvSpPr>
          <p:cNvPr id="14" name="Text 9"/>
          <p:cNvSpPr/>
          <p:nvPr/>
        </p:nvSpPr>
        <p:spPr>
          <a:xfrm>
            <a:off x="3401568" y="228600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6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/transform</a:t>
            </a:r>
            <a:endParaRPr lang="en-US" sz="86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6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/reverse-transform</a:t>
            </a:r>
            <a:endParaRPr lang="en-US" sz="86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6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/config</a:t>
            </a:r>
            <a:endParaRPr lang="en-US" sz="860"/>
          </a:p>
        </p:txBody>
      </p:sp>
      <p:pic>
        <p:nvPicPr>
          <p:cNvPr id="15" name="Image 3" descr="assets/icon_arrowRigh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1952244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035040" y="137160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0B2E63"/>
          </a:solidFill>
          <a:ln/>
          <a:effectLst>
            <a:outerShdw blurRad="101600" dist="254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981444" y="1517904"/>
            <a:ext cx="438912" cy="438912"/>
          </a:xfrm>
          <a:prstGeom prst="ellipse">
            <a:avLst/>
          </a:prstGeom>
          <a:solidFill>
            <a:srgbClr val="173E75"/>
          </a:solidFill>
          <a:ln/>
        </p:spPr>
      </p:sp>
      <p:pic>
        <p:nvPicPr>
          <p:cNvPr id="18" name="Image 4" descr="assets/icon_gitBran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172" y="162763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44768" y="201168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Workflow</a:t>
            </a:r>
            <a:endParaRPr lang="en-US" sz="1150"/>
          </a:p>
        </p:txBody>
      </p:sp>
      <p:sp>
        <p:nvSpPr>
          <p:cNvPr id="20" name="Text 13"/>
          <p:cNvSpPr/>
          <p:nvPr/>
        </p:nvSpPr>
        <p:spPr>
          <a:xfrm>
            <a:off x="6144768" y="228600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6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Graph</a:t>
            </a:r>
            <a:endParaRPr lang="en-US" sz="86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6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Parse→Map→Enrich</a:t>
            </a:r>
            <a:endParaRPr lang="en-US" sz="86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6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→Validate→Gen XML</a:t>
            </a:r>
            <a:endParaRPr lang="en-US" sz="860"/>
          </a:p>
        </p:txBody>
      </p:sp>
      <p:pic>
        <p:nvPicPr>
          <p:cNvPr id="21" name="Image 5" descr="assets/icon_arrowRigh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1952244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778240" y="137160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724644" y="1517904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24" name="Image 6" descr="assets/icon_cpu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4372" y="1627632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887968" y="201168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150"/>
          </a:p>
        </p:txBody>
      </p:sp>
      <p:sp>
        <p:nvSpPr>
          <p:cNvPr id="26" name="Text 17"/>
          <p:cNvSpPr/>
          <p:nvPr/>
        </p:nvSpPr>
        <p:spPr>
          <a:xfrm>
            <a:off x="8887968" y="228600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6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Agent</a:t>
            </a:r>
            <a:endParaRPr lang="en-US" sz="86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6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Agent</a:t>
            </a:r>
            <a:endParaRPr lang="en-US" sz="86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6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</a:t>
            </a:r>
            <a:endParaRPr lang="en-US" sz="860"/>
          </a:p>
        </p:txBody>
      </p:sp>
      <p:pic>
        <p:nvPicPr>
          <p:cNvPr id="27" name="Image 7" descr="assets/icon_arrowRigh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843516" y="2807208"/>
            <a:ext cx="201168" cy="20116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8778240" y="299008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EAF3F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8915400" y="30449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0B2E63"/>
                </a:solidFill>
                <a:ea typeface="+mn-lt"/>
                <a:cs typeface="+mn-lt"/>
              </a:rPr>
              <a:t>Cloud AI Services </a:t>
            </a:r>
            <a:endParaRPr lang="en-US" sz="1150" b="1">
              <a:ea typeface="+mn-lt"/>
              <a:cs typeface="+mn-lt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8915400" y="32644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mapping · Field enrichment · LLM reasoning</a:t>
            </a:r>
            <a:endParaRPr lang="en-US" sz="760"/>
          </a:p>
        </p:txBody>
      </p:sp>
      <p:sp>
        <p:nvSpPr>
          <p:cNvPr id="32" name="Text 22"/>
          <p:cNvSpPr/>
          <p:nvPr/>
        </p:nvSpPr>
        <p:spPr>
          <a:xfrm>
            <a:off x="505098" y="3552952"/>
            <a:ext cx="5529942" cy="41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>
                <a:solidFill>
                  <a:srgbClr val="0F6CBD"/>
                </a:solidFill>
                <a:latin typeface="Calibri"/>
                <a:ea typeface="Calibri"/>
                <a:cs typeface="Calibri"/>
              </a:rPr>
              <a:t>TRANSFORMATION PIPELINE DETAIL</a:t>
            </a:r>
            <a:br>
              <a:rPr lang="en-US" sz="1100" b="1" kern="0" spc="150" dirty="0">
                <a:solidFill>
                  <a:srgbClr val="0F6CBD"/>
                </a:solidFill>
                <a:latin typeface="Calibri"/>
                <a:ea typeface="Calibri"/>
                <a:cs typeface="Calibri"/>
              </a:rPr>
            </a:br>
            <a:br>
              <a:rPr lang="en-US" sz="1100" b="1" kern="0" spc="150" dirty="0">
                <a:ea typeface="Calibri"/>
                <a:cs typeface="Calibri"/>
              </a:rPr>
            </a:br>
            <a:endParaRPr lang="en-US" sz="1100"/>
          </a:p>
        </p:txBody>
      </p:sp>
      <p:sp>
        <p:nvSpPr>
          <p:cNvPr id="33" name="Shape 23"/>
          <p:cNvSpPr/>
          <p:nvPr/>
        </p:nvSpPr>
        <p:spPr>
          <a:xfrm>
            <a:off x="548640" y="4288536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E63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76656" y="4407408"/>
            <a:ext cx="274320" cy="274320"/>
          </a:xfrm>
          <a:prstGeom prst="ellipse">
            <a:avLst/>
          </a:prstGeom>
          <a:solidFill>
            <a:srgbClr val="0B2E63"/>
          </a:solidFill>
          <a:ln/>
        </p:spPr>
      </p:sp>
      <p:sp>
        <p:nvSpPr>
          <p:cNvPr id="35" name="Text 25"/>
          <p:cNvSpPr/>
          <p:nvPr/>
        </p:nvSpPr>
        <p:spPr>
          <a:xfrm>
            <a:off x="676656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/>
          </a:p>
        </p:txBody>
      </p:sp>
      <p:sp>
        <p:nvSpPr>
          <p:cNvPr id="36" name="Text 26"/>
          <p:cNvSpPr/>
          <p:nvPr/>
        </p:nvSpPr>
        <p:spPr>
          <a:xfrm>
            <a:off x="1024128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MT</a:t>
            </a:r>
            <a:endParaRPr lang="en-US" sz="1100"/>
          </a:p>
        </p:txBody>
      </p:sp>
      <p:sp>
        <p:nvSpPr>
          <p:cNvPr id="37" name="Text 27"/>
          <p:cNvSpPr/>
          <p:nvPr/>
        </p:nvSpPr>
        <p:spPr>
          <a:xfrm>
            <a:off x="676656" y="4745736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type</a:t>
            </a:r>
            <a:endParaRPr lang="en-US" sz="830"/>
          </a:p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tags</a:t>
            </a:r>
            <a:endParaRPr lang="en-US" sz="830"/>
          </a:p>
        </p:txBody>
      </p:sp>
      <p:pic>
        <p:nvPicPr>
          <p:cNvPr id="38" name="Image 8" descr="assets/icon_arrowRigh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888" y="4626864"/>
            <a:ext cx="164592" cy="164592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2715768" y="4288536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E63">
                <a:alpha val="8000"/>
              </a:srgbClr>
            </a:outerShdw>
          </a:effectLst>
        </p:spPr>
      </p:sp>
      <p:sp>
        <p:nvSpPr>
          <p:cNvPr id="40" name="Shape 29"/>
          <p:cNvSpPr/>
          <p:nvPr/>
        </p:nvSpPr>
        <p:spPr>
          <a:xfrm>
            <a:off x="2843784" y="4407408"/>
            <a:ext cx="274320" cy="274320"/>
          </a:xfrm>
          <a:prstGeom prst="ellipse">
            <a:avLst/>
          </a:prstGeom>
          <a:solidFill>
            <a:srgbClr val="0B2E63"/>
          </a:solidFill>
          <a:ln/>
        </p:spPr>
      </p:sp>
      <p:sp>
        <p:nvSpPr>
          <p:cNvPr id="41" name="Text 30"/>
          <p:cNvSpPr/>
          <p:nvPr/>
        </p:nvSpPr>
        <p:spPr>
          <a:xfrm>
            <a:off x="2843784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/>
          </a:p>
        </p:txBody>
      </p:sp>
      <p:sp>
        <p:nvSpPr>
          <p:cNvPr id="42" name="Text 31"/>
          <p:cNvSpPr/>
          <p:nvPr/>
        </p:nvSpPr>
        <p:spPr>
          <a:xfrm>
            <a:off x="3191256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Fields</a:t>
            </a:r>
            <a:endParaRPr lang="en-US" sz="1100"/>
          </a:p>
        </p:txBody>
      </p:sp>
      <p:sp>
        <p:nvSpPr>
          <p:cNvPr id="43" name="Text 32"/>
          <p:cNvSpPr/>
          <p:nvPr/>
        </p:nvSpPr>
        <p:spPr>
          <a:xfrm>
            <a:off x="2843784" y="4745736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tag → MX path</a:t>
            </a:r>
            <a:endParaRPr lang="en-US" sz="830"/>
          </a:p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830"/>
          </a:p>
        </p:txBody>
      </p:sp>
      <p:pic>
        <p:nvPicPr>
          <p:cNvPr id="44" name="Image 9" descr="assets/icon_arrowRigh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626864"/>
            <a:ext cx="164592" cy="164592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4882896" y="4288536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E63">
                <a:alpha val="8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5010912" y="4407408"/>
            <a:ext cx="274320" cy="274320"/>
          </a:xfrm>
          <a:prstGeom prst="ellipse">
            <a:avLst/>
          </a:prstGeom>
          <a:solidFill>
            <a:srgbClr val="0B2E63"/>
          </a:solidFill>
          <a:ln/>
        </p:spPr>
      </p:sp>
      <p:sp>
        <p:nvSpPr>
          <p:cNvPr id="47" name="Text 35"/>
          <p:cNvSpPr/>
          <p:nvPr/>
        </p:nvSpPr>
        <p:spPr>
          <a:xfrm>
            <a:off x="5010912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/>
          </a:p>
        </p:txBody>
      </p:sp>
      <p:sp>
        <p:nvSpPr>
          <p:cNvPr id="48" name="Text 36"/>
          <p:cNvSpPr/>
          <p:nvPr/>
        </p:nvSpPr>
        <p:spPr>
          <a:xfrm>
            <a:off x="5358384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100"/>
          </a:p>
        </p:txBody>
      </p:sp>
      <p:sp>
        <p:nvSpPr>
          <p:cNvPr id="49" name="Text 37"/>
          <p:cNvSpPr/>
          <p:nvPr/>
        </p:nvSpPr>
        <p:spPr>
          <a:xfrm>
            <a:off x="5010912" y="4745736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fills</a:t>
            </a:r>
            <a:endParaRPr lang="en-US" sz="830"/>
          </a:p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fields</a:t>
            </a:r>
            <a:endParaRPr lang="en-US" sz="830"/>
          </a:p>
        </p:txBody>
      </p:sp>
      <p:pic>
        <p:nvPicPr>
          <p:cNvPr id="50" name="Image 10" descr="assets/icon_arrowRigh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144" y="4626864"/>
            <a:ext cx="164592" cy="164592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7050024" y="4288536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E63">
                <a:alpha val="8000"/>
              </a:srgbClr>
            </a:outerShdw>
          </a:effectLst>
        </p:spPr>
      </p:sp>
      <p:sp>
        <p:nvSpPr>
          <p:cNvPr id="52" name="Shape 39"/>
          <p:cNvSpPr/>
          <p:nvPr/>
        </p:nvSpPr>
        <p:spPr>
          <a:xfrm>
            <a:off x="7178040" y="4407408"/>
            <a:ext cx="274320" cy="274320"/>
          </a:xfrm>
          <a:prstGeom prst="ellipse">
            <a:avLst/>
          </a:prstGeom>
          <a:solidFill>
            <a:srgbClr val="0B2E63"/>
          </a:solidFill>
          <a:ln/>
        </p:spPr>
      </p:sp>
      <p:sp>
        <p:nvSpPr>
          <p:cNvPr id="53" name="Text 40"/>
          <p:cNvSpPr/>
          <p:nvPr/>
        </p:nvSpPr>
        <p:spPr>
          <a:xfrm>
            <a:off x="717804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/>
          </a:p>
        </p:txBody>
      </p:sp>
      <p:sp>
        <p:nvSpPr>
          <p:cNvPr id="54" name="Text 41"/>
          <p:cNvSpPr/>
          <p:nvPr/>
        </p:nvSpPr>
        <p:spPr>
          <a:xfrm>
            <a:off x="7525512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/>
          </a:p>
        </p:txBody>
      </p:sp>
      <p:sp>
        <p:nvSpPr>
          <p:cNvPr id="55" name="Text 42"/>
          <p:cNvSpPr/>
          <p:nvPr/>
        </p:nvSpPr>
        <p:spPr>
          <a:xfrm>
            <a:off x="7178040" y="4745736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XSD check</a:t>
            </a:r>
            <a:endParaRPr lang="en-US" sz="830"/>
          </a:p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compliance</a:t>
            </a:r>
            <a:endParaRPr lang="en-US" sz="830"/>
          </a:p>
        </p:txBody>
      </p:sp>
      <p:pic>
        <p:nvPicPr>
          <p:cNvPr id="56" name="Image 11" descr="assets/icon_arrowRigh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2" y="4626864"/>
            <a:ext cx="164592" cy="164592"/>
          </a:xfrm>
          <a:prstGeom prst="rect">
            <a:avLst/>
          </a:prstGeom>
        </p:spPr>
      </p:pic>
      <p:sp>
        <p:nvSpPr>
          <p:cNvPr id="57" name="Shape 43"/>
          <p:cNvSpPr/>
          <p:nvPr/>
        </p:nvSpPr>
        <p:spPr>
          <a:xfrm>
            <a:off x="9217152" y="4288536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E63">
                <a:alpha val="8000"/>
              </a:srgbClr>
            </a:outerShdw>
          </a:effectLst>
        </p:spPr>
      </p:sp>
      <p:sp>
        <p:nvSpPr>
          <p:cNvPr id="58" name="Shape 44"/>
          <p:cNvSpPr/>
          <p:nvPr/>
        </p:nvSpPr>
        <p:spPr>
          <a:xfrm>
            <a:off x="9345168" y="4407408"/>
            <a:ext cx="274320" cy="274320"/>
          </a:xfrm>
          <a:prstGeom prst="ellipse">
            <a:avLst/>
          </a:prstGeom>
          <a:solidFill>
            <a:srgbClr val="0B2E63"/>
          </a:solidFill>
          <a:ln/>
        </p:spPr>
      </p:sp>
      <p:sp>
        <p:nvSpPr>
          <p:cNvPr id="59" name="Text 45"/>
          <p:cNvSpPr/>
          <p:nvPr/>
        </p:nvSpPr>
        <p:spPr>
          <a:xfrm>
            <a:off x="93451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/>
          </a:p>
        </p:txBody>
      </p:sp>
      <p:sp>
        <p:nvSpPr>
          <p:cNvPr id="60" name="Text 46"/>
          <p:cNvSpPr/>
          <p:nvPr/>
        </p:nvSpPr>
        <p:spPr>
          <a:xfrm>
            <a:off x="9692640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XML</a:t>
            </a:r>
            <a:endParaRPr lang="en-US" sz="1100"/>
          </a:p>
        </p:txBody>
      </p:sp>
      <p:sp>
        <p:nvSpPr>
          <p:cNvPr id="61" name="Text 47"/>
          <p:cNvSpPr/>
          <p:nvPr/>
        </p:nvSpPr>
        <p:spPr>
          <a:xfrm>
            <a:off x="9345168" y="4745736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</a:t>
            </a:r>
            <a:endParaRPr lang="en-US" sz="830"/>
          </a:p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output</a:t>
            </a:r>
            <a:endParaRPr lang="en-US" sz="830"/>
          </a:p>
        </p:txBody>
      </p:sp>
      <p:sp>
        <p:nvSpPr>
          <p:cNvPr id="62" name="Shape 48"/>
          <p:cNvSpPr/>
          <p:nvPr/>
        </p:nvSpPr>
        <p:spPr>
          <a:xfrm>
            <a:off x="548640" y="5385816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EAF3FD"/>
          </a:solidFill>
          <a:ln/>
        </p:spPr>
      </p:sp>
      <p:pic>
        <p:nvPicPr>
          <p:cNvPr id="63" name="Image 12" descr="assets/icon_zap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" y="5504688"/>
            <a:ext cx="219456" cy="219456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987552" y="538581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non-blocking FastAPI</a:t>
            </a:r>
            <a:endParaRPr lang="en-US" sz="860"/>
          </a:p>
        </p:txBody>
      </p:sp>
      <p:sp>
        <p:nvSpPr>
          <p:cNvPr id="65" name="Shape 50"/>
          <p:cNvSpPr/>
          <p:nvPr/>
        </p:nvSpPr>
        <p:spPr>
          <a:xfrm>
            <a:off x="3346704" y="5385816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EAF3FD"/>
          </a:solidFill>
          <a:ln/>
        </p:spPr>
      </p:sp>
      <p:pic>
        <p:nvPicPr>
          <p:cNvPr id="66" name="Image 13" descr="assets/icon_trendingUp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3008" y="5504688"/>
            <a:ext cx="219456" cy="219456"/>
          </a:xfrm>
          <a:prstGeom prst="rect">
            <a:avLst/>
          </a:prstGeom>
        </p:spPr>
      </p:pic>
      <p:sp>
        <p:nvSpPr>
          <p:cNvPr id="67" name="Text 51"/>
          <p:cNvSpPr/>
          <p:nvPr/>
        </p:nvSpPr>
        <p:spPr>
          <a:xfrm>
            <a:off x="3785616" y="538581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REST — horizontally scalable</a:t>
            </a:r>
            <a:endParaRPr lang="en-US" sz="860"/>
          </a:p>
        </p:txBody>
      </p:sp>
      <p:sp>
        <p:nvSpPr>
          <p:cNvPr id="68" name="Shape 52"/>
          <p:cNvSpPr/>
          <p:nvPr/>
        </p:nvSpPr>
        <p:spPr>
          <a:xfrm>
            <a:off x="6144768" y="5385816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EAF3FD"/>
          </a:solidFill>
          <a:ln/>
        </p:spPr>
      </p:sp>
      <p:pic>
        <p:nvPicPr>
          <p:cNvPr id="69" name="Image 14" descr="assets/icon_layers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1072" y="5504688"/>
            <a:ext cx="219456" cy="219456"/>
          </a:xfrm>
          <a:prstGeom prst="rect">
            <a:avLst/>
          </a:prstGeom>
        </p:spPr>
      </p:pic>
      <p:sp>
        <p:nvSpPr>
          <p:cNvPr id="70" name="Text 53"/>
          <p:cNvSpPr/>
          <p:nvPr/>
        </p:nvSpPr>
        <p:spPr>
          <a:xfrm>
            <a:off x="6583680" y="538581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config via env variables</a:t>
            </a:r>
            <a:endParaRPr lang="en-US" sz="860"/>
          </a:p>
        </p:txBody>
      </p:sp>
      <p:sp>
        <p:nvSpPr>
          <p:cNvPr id="71" name="Shape 54"/>
          <p:cNvSpPr/>
          <p:nvPr/>
        </p:nvSpPr>
        <p:spPr>
          <a:xfrm>
            <a:off x="8942832" y="5385816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EAF3FD"/>
          </a:solidFill>
          <a:ln/>
        </p:spPr>
      </p:sp>
      <p:pic>
        <p:nvPicPr>
          <p:cNvPr id="72" name="Image 15" descr="assets/icon_lock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9136" y="5504688"/>
            <a:ext cx="219456" cy="219456"/>
          </a:xfrm>
          <a:prstGeom prst="rect">
            <a:avLst/>
          </a:prstGeom>
        </p:spPr>
      </p:pic>
      <p:sp>
        <p:nvSpPr>
          <p:cNvPr id="73" name="Text 55"/>
          <p:cNvSpPr/>
          <p:nvPr/>
        </p:nvSpPr>
        <p:spPr>
          <a:xfrm>
            <a:off x="9381744" y="538581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for secrets</a:t>
            </a:r>
            <a:endParaRPr lang="en-US" sz="860"/>
          </a:p>
        </p:txBody>
      </p:sp>
      <p:sp>
        <p:nvSpPr>
          <p:cNvPr id="75" name="Text 5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/>
          </a:p>
        </p:txBody>
      </p:sp>
      <p:sp>
        <p:nvSpPr>
          <p:cNvPr id="76" name="Text 57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/>
          </a:p>
        </p:txBody>
      </p:sp>
      <p:sp>
        <p:nvSpPr>
          <p:cNvPr id="77" name="Text 58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/>
          </a:p>
        </p:txBody>
      </p:sp>
      <p:sp>
        <p:nvSpPr>
          <p:cNvPr id="74" name="Text 21">
            <a:extLst>
              <a:ext uri="{FF2B5EF4-FFF2-40B4-BE49-F238E27FC236}">
                <a16:creationId xmlns:a16="http://schemas.microsoft.com/office/drawing/2014/main" id="{CE1DAC9E-C839-1199-7C90-A7AA6F896126}"/>
              </a:ext>
            </a:extLst>
          </p:cNvPr>
          <p:cNvSpPr/>
          <p:nvPr/>
        </p:nvSpPr>
        <p:spPr>
          <a:xfrm>
            <a:off x="505097" y="3630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i="1">
                <a:solidFill>
                  <a:srgbClr val="0F6CBD"/>
                </a:solidFill>
                <a:latin typeface="Calibri"/>
                <a:ea typeface="Calibri"/>
                <a:cs typeface="Calibri"/>
              </a:rPr>
              <a:t>(MX → MT reverse also supported)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340"/>
                </a:solidFill>
                <a:latin typeface="Calibri"/>
                <a:ea typeface="Calibri"/>
                <a:cs typeface="Calibri"/>
              </a:rPr>
              <a:t>Layered, Enterprise-Grade Design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680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B2E63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6" name="Image 0" descr="assets/icon_monito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70992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904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250"/>
          </a:p>
        </p:txBody>
      </p:sp>
      <p:sp>
        <p:nvSpPr>
          <p:cNvPr id="8" name="Text 5"/>
          <p:cNvSpPr/>
          <p:nvPr/>
        </p:nvSpPr>
        <p:spPr>
          <a:xfrm>
            <a:off x="1325880" y="1783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i="1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Tailwind CSS + Vite</a:t>
            </a:r>
            <a:endParaRPr lang="en-US" sz="880"/>
          </a:p>
        </p:txBody>
      </p:sp>
      <p:sp>
        <p:nvSpPr>
          <p:cNvPr id="9" name="Text 6"/>
          <p:cNvSpPr/>
          <p:nvPr/>
        </p:nvSpPr>
        <p:spPr>
          <a:xfrm>
            <a:off x="3566160" y="150876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responsive design</a:t>
            </a:r>
            <a:endParaRPr lang="en-US" sz="90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</a:t>
            </a:r>
            <a:endParaRPr lang="en-US" sz="90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 / optimised build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48640" y="2313432"/>
            <a:ext cx="7680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B2E63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496312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12" name="Image 1" descr="assets/icon_server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60604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3865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50"/>
          </a:p>
        </p:txBody>
      </p:sp>
      <p:sp>
        <p:nvSpPr>
          <p:cNvPr id="14" name="Text 10"/>
          <p:cNvSpPr/>
          <p:nvPr/>
        </p:nvSpPr>
        <p:spPr>
          <a:xfrm>
            <a:off x="1325880" y="2679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i="1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v2 Schemas</a:t>
            </a:r>
            <a:endParaRPr lang="en-US" sz="880"/>
          </a:p>
        </p:txBody>
      </p:sp>
      <p:sp>
        <p:nvSpPr>
          <p:cNvPr id="15" name="Text 11"/>
          <p:cNvSpPr/>
          <p:nvPr/>
        </p:nvSpPr>
        <p:spPr>
          <a:xfrm>
            <a:off x="3566160" y="240487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Routers: /transform /reverse /health /validation</a:t>
            </a:r>
            <a:endParaRPr lang="en-US" sz="90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throughout</a:t>
            </a:r>
            <a:endParaRPr lang="en-US" sz="90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docs auto-generated</a:t>
            </a:r>
            <a:endParaRPr lang="en-US" sz="900"/>
          </a:p>
        </p:txBody>
      </p:sp>
      <p:sp>
        <p:nvSpPr>
          <p:cNvPr id="16" name="Shape 12"/>
          <p:cNvSpPr/>
          <p:nvPr/>
        </p:nvSpPr>
        <p:spPr>
          <a:xfrm>
            <a:off x="548640" y="3209544"/>
            <a:ext cx="7680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B2E63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392424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18" name="Image 2" descr="assets/icon_layers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50215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2826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250"/>
          </a:p>
        </p:txBody>
      </p:sp>
      <p:sp>
        <p:nvSpPr>
          <p:cNvPr id="20" name="Text 15"/>
          <p:cNvSpPr/>
          <p:nvPr/>
        </p:nvSpPr>
        <p:spPr>
          <a:xfrm>
            <a:off x="1325880" y="35753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i="1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TransformationService · ReverseOrchestrator</a:t>
            </a:r>
            <a:endParaRPr lang="en-US" sz="880"/>
          </a:p>
        </p:txBody>
      </p:sp>
      <p:sp>
        <p:nvSpPr>
          <p:cNvPr id="21" name="Text 16"/>
          <p:cNvSpPr/>
          <p:nvPr/>
        </p:nvSpPr>
        <p:spPr>
          <a:xfrm>
            <a:off x="3566160" y="330098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Parser · MX Generator</a:t>
            </a:r>
            <a:endParaRPr lang="en-US" sz="90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Service · Validation Service</a:t>
            </a:r>
            <a:endParaRPr lang="en-US" sz="90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orchestration</a:t>
            </a:r>
            <a:endParaRPr lang="en-US" sz="900"/>
          </a:p>
        </p:txBody>
      </p:sp>
      <p:sp>
        <p:nvSpPr>
          <p:cNvPr id="22" name="Shape 17"/>
          <p:cNvSpPr/>
          <p:nvPr/>
        </p:nvSpPr>
        <p:spPr>
          <a:xfrm>
            <a:off x="548640" y="4105656"/>
            <a:ext cx="7680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B2E63">
                <a:alpha val="9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288536"/>
            <a:ext cx="438912" cy="438912"/>
          </a:xfrm>
          <a:prstGeom prst="ellipse">
            <a:avLst/>
          </a:prstGeom>
          <a:solidFill>
            <a:srgbClr val="E9F3FD"/>
          </a:solidFill>
          <a:ln/>
        </p:spPr>
      </p:sp>
      <p:pic>
        <p:nvPicPr>
          <p:cNvPr id="24" name="Image 3" descr="assets/icon_gitBranch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39826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178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250"/>
          </a:p>
        </p:txBody>
      </p:sp>
      <p:sp>
        <p:nvSpPr>
          <p:cNvPr id="26" name="Text 20"/>
          <p:cNvSpPr/>
          <p:nvPr/>
        </p:nvSpPr>
        <p:spPr>
          <a:xfrm>
            <a:off x="1325880" y="44714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i="1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Agents</a:t>
            </a:r>
            <a:endParaRPr lang="en-US" sz="880"/>
          </a:p>
        </p:txBody>
      </p:sp>
      <p:sp>
        <p:nvSpPr>
          <p:cNvPr id="27" name="Text 21"/>
          <p:cNvSpPr/>
          <p:nvPr/>
        </p:nvSpPr>
        <p:spPr>
          <a:xfrm>
            <a:off x="3566160" y="419709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Agent — MT→MX field mapping</a:t>
            </a:r>
            <a:endParaRPr lang="en-US" sz="90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Agent — LEI / purpose codes</a:t>
            </a:r>
            <a:endParaRPr lang="en-US" sz="900"/>
          </a:p>
          <a:p>
            <a:pPr marL="342900" indent="-342900">
              <a:lnSpc>
                <a:spcPct val="105000"/>
              </a:lnSpc>
              <a:spcAft>
                <a:spcPts val="100"/>
              </a:spcAft>
              <a:buSzPct val="100000"/>
              <a:buChar char="→"/>
            </a:pPr>
            <a:r>
              <a:rPr lang="en-US" sz="9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 · XML Parser Agent</a:t>
            </a:r>
            <a:endParaRPr lang="en-US" sz="900"/>
          </a:p>
        </p:txBody>
      </p:sp>
      <p:sp>
        <p:nvSpPr>
          <p:cNvPr id="28" name="Shape 22"/>
          <p:cNvSpPr/>
          <p:nvPr/>
        </p:nvSpPr>
        <p:spPr>
          <a:xfrm>
            <a:off x="8458200" y="141732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0B2E63"/>
          </a:solidFill>
          <a:ln/>
        </p:spPr>
      </p:sp>
      <p:pic>
        <p:nvPicPr>
          <p:cNvPr id="29" name="Image 4" descr="assets/icon_cpu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9368" y="158191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052560" y="15453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FFFFFF"/>
                </a:solidFill>
                <a:ea typeface="+mn-lt"/>
                <a:cs typeface="+mn-lt"/>
              </a:rPr>
              <a:t>Cloud AI Services</a:t>
            </a:r>
            <a:endParaRPr lang="en-US" sz="1200" b="1">
              <a:ea typeface="Calibri"/>
              <a:cs typeface="Calibri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9052560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reasoning · LLM enrichment</a:t>
            </a:r>
            <a:endParaRPr lang="en-US" sz="900"/>
          </a:p>
        </p:txBody>
      </p:sp>
      <p:sp>
        <p:nvSpPr>
          <p:cNvPr id="32" name="Shape 25"/>
          <p:cNvSpPr/>
          <p:nvPr/>
        </p:nvSpPr>
        <p:spPr>
          <a:xfrm>
            <a:off x="8458200" y="251460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EAF3FD"/>
          </a:solidFill>
          <a:ln/>
        </p:spPr>
      </p:sp>
      <p:pic>
        <p:nvPicPr>
          <p:cNvPr id="33" name="Image 5" descr="assets/icon_database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9368" y="2679192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52560" y="26426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 (roadmap)</a:t>
            </a:r>
            <a:endParaRPr lang="en-US" sz="1200"/>
          </a:p>
        </p:txBody>
      </p:sp>
      <p:sp>
        <p:nvSpPr>
          <p:cNvPr id="35" name="Text 27"/>
          <p:cNvSpPr/>
          <p:nvPr/>
        </p:nvSpPr>
        <p:spPr>
          <a:xfrm>
            <a:off x="9052560" y="2971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· Message persistence</a:t>
            </a:r>
            <a:endParaRPr lang="en-US" sz="900"/>
          </a:p>
        </p:txBody>
      </p:sp>
      <p:sp>
        <p:nvSpPr>
          <p:cNvPr id="36" name="Text 28"/>
          <p:cNvSpPr/>
          <p:nvPr/>
        </p:nvSpPr>
        <p:spPr>
          <a:xfrm>
            <a:off x="548640" y="51114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/>
          </a:p>
        </p:txBody>
      </p:sp>
      <p:sp>
        <p:nvSpPr>
          <p:cNvPr id="37" name="Shape 29"/>
          <p:cNvSpPr/>
          <p:nvPr/>
        </p:nvSpPr>
        <p:spPr>
          <a:xfrm>
            <a:off x="548640" y="5422392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E63">
                <a:alpha val="8000"/>
              </a:srgbClr>
            </a:outerShdw>
          </a:effectLst>
        </p:spPr>
      </p:sp>
      <p:pic>
        <p:nvPicPr>
          <p:cNvPr id="38" name="Image 6" descr="assets/icon_layers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5568696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42416" y="549554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50"/>
          </a:p>
        </p:txBody>
      </p:sp>
      <p:sp>
        <p:nvSpPr>
          <p:cNvPr id="40" name="Text 31"/>
          <p:cNvSpPr/>
          <p:nvPr/>
        </p:nvSpPr>
        <p:spPr>
          <a:xfrm>
            <a:off x="1042416" y="573328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8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BaseSettings</a:t>
            </a:r>
            <a:endParaRPr lang="en-US" sz="780"/>
          </a:p>
          <a:p>
            <a:pPr marL="0" indent="0">
              <a:lnSpc>
                <a:spcPct val="100000"/>
              </a:lnSpc>
              <a:buNone/>
            </a:pPr>
            <a:r>
              <a:rPr lang="en-US" sz="78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+ Azure Key Vault</a:t>
            </a:r>
            <a:endParaRPr lang="en-US" sz="780"/>
          </a:p>
        </p:txBody>
      </p:sp>
      <p:sp>
        <p:nvSpPr>
          <p:cNvPr id="41" name="Shape 32"/>
          <p:cNvSpPr/>
          <p:nvPr/>
        </p:nvSpPr>
        <p:spPr>
          <a:xfrm>
            <a:off x="3438144" y="5422392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E63">
                <a:alpha val="8000"/>
              </a:srgbClr>
            </a:outerShdw>
          </a:effectLst>
        </p:spPr>
      </p:sp>
      <p:pic>
        <p:nvPicPr>
          <p:cNvPr id="42" name="Image 7" descr="assets/icon_fileText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4448" y="5568696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931920" y="549554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50"/>
          </a:p>
        </p:txBody>
      </p:sp>
      <p:sp>
        <p:nvSpPr>
          <p:cNvPr id="44" name="Text 34"/>
          <p:cNvSpPr/>
          <p:nvPr/>
        </p:nvSpPr>
        <p:spPr>
          <a:xfrm>
            <a:off x="3931920" y="573328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8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780"/>
          </a:p>
          <a:p>
            <a:pPr marL="0" indent="0">
              <a:lnSpc>
                <a:spcPct val="100000"/>
              </a:lnSpc>
              <a:buNone/>
            </a:pPr>
            <a:r>
              <a:rPr lang="en-US" sz="78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Observability-ready</a:t>
            </a:r>
            <a:endParaRPr lang="en-US" sz="780"/>
          </a:p>
        </p:txBody>
      </p:sp>
      <p:sp>
        <p:nvSpPr>
          <p:cNvPr id="45" name="Shape 35"/>
          <p:cNvSpPr/>
          <p:nvPr/>
        </p:nvSpPr>
        <p:spPr>
          <a:xfrm>
            <a:off x="6327648" y="5422392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E63">
                <a:alpha val="8000"/>
              </a:srgbClr>
            </a:outerShdw>
          </a:effectLst>
        </p:spPr>
      </p:sp>
      <p:pic>
        <p:nvPicPr>
          <p:cNvPr id="46" name="Image 8" descr="assets/icon_eye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3952" y="5568696"/>
            <a:ext cx="237744" cy="23774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821424" y="549554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050"/>
          </a:p>
        </p:txBody>
      </p:sp>
      <p:sp>
        <p:nvSpPr>
          <p:cNvPr id="48" name="Text 37"/>
          <p:cNvSpPr/>
          <p:nvPr/>
        </p:nvSpPr>
        <p:spPr>
          <a:xfrm>
            <a:off x="6821424" y="573328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8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/ OpenTelemetry</a:t>
            </a:r>
            <a:endParaRPr lang="en-US" sz="780"/>
          </a:p>
          <a:p>
            <a:pPr marL="0" indent="0">
              <a:lnSpc>
                <a:spcPct val="100000"/>
              </a:lnSpc>
              <a:buNone/>
            </a:pPr>
            <a:r>
              <a:rPr lang="en-US" sz="78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monitoring</a:t>
            </a:r>
            <a:endParaRPr lang="en-US" sz="780"/>
          </a:p>
        </p:txBody>
      </p:sp>
      <p:sp>
        <p:nvSpPr>
          <p:cNvPr id="49" name="Shape 38"/>
          <p:cNvSpPr/>
          <p:nvPr/>
        </p:nvSpPr>
        <p:spPr>
          <a:xfrm>
            <a:off x="9217152" y="5422392"/>
            <a:ext cx="27249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E63">
                <a:alpha val="8000"/>
              </a:srgbClr>
            </a:outerShdw>
          </a:effectLst>
        </p:spPr>
      </p:sp>
      <p:pic>
        <p:nvPicPr>
          <p:cNvPr id="50" name="Image 9" descr="assets/icon_box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63456" y="5568696"/>
            <a:ext cx="237744" cy="237744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9710928" y="549554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/>
          </a:p>
        </p:txBody>
      </p:sp>
      <p:sp>
        <p:nvSpPr>
          <p:cNvPr id="52" name="Text 40"/>
          <p:cNvSpPr/>
          <p:nvPr/>
        </p:nvSpPr>
        <p:spPr>
          <a:xfrm>
            <a:off x="9710928" y="573328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8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780"/>
          </a:p>
          <a:p>
            <a:pPr marL="0" indent="0">
              <a:lnSpc>
                <a:spcPct val="100000"/>
              </a:lnSpc>
              <a:buNone/>
            </a:pPr>
            <a:r>
              <a:rPr lang="en-US" sz="78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containers</a:t>
            </a:r>
            <a:endParaRPr lang="en-US" sz="780"/>
          </a:p>
        </p:txBody>
      </p:sp>
      <p:sp>
        <p:nvSpPr>
          <p:cNvPr id="54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/>
          </a:p>
        </p:txBody>
      </p:sp>
      <p:sp>
        <p:nvSpPr>
          <p:cNvPr id="55" name="Text 42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/>
          </a:p>
        </p:txBody>
      </p:sp>
      <p:sp>
        <p:nvSpPr>
          <p:cNvPr id="56" name="Text 43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MT103 → pacs.008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Wire Transfer — USD 50,000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061A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MT103 (Legacy SWIFT)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:20:REFMT103001</a:t>
            </a:r>
            <a:endParaRPr lang="en-US" sz="1000"/>
          </a:p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:23B:CRED</a:t>
            </a:r>
            <a:endParaRPr lang="en-US" sz="1000"/>
          </a:p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:32A:260605USD50000,00</a:t>
            </a:r>
            <a:endParaRPr lang="en-US" sz="1000"/>
          </a:p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:50K:/123456789</a:t>
            </a:r>
            <a:endParaRPr lang="en-US" sz="1000"/>
          </a:p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JOHN DOE, MUMBAI, INDIA</a:t>
            </a:r>
            <a:endParaRPr lang="en-US" sz="1000"/>
          </a:p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:59:/987654321</a:t>
            </a:r>
            <a:endParaRPr lang="en-US" sz="1000"/>
          </a:p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JANE SMITH, NEW YORK, USA</a:t>
            </a:r>
            <a:endParaRPr lang="en-US" sz="1000"/>
          </a:p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:71A:SHA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7528255" y="160020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0D1F3D"/>
          </a:solidFill>
          <a:ln/>
        </p:spPr>
      </p:sp>
      <p:sp>
        <p:nvSpPr>
          <p:cNvPr id="9" name="Text 7"/>
          <p:cNvSpPr/>
          <p:nvPr/>
        </p:nvSpPr>
        <p:spPr>
          <a:xfrm>
            <a:off x="7711135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pacs.008 XML (ISO 20022)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7711135" y="205740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&lt;Document&gt;</a:t>
            </a:r>
            <a:endParaRPr lang="en-US" sz="9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&lt;FIToFICstmrCdtTrf&gt;</a:t>
            </a:r>
            <a:endParaRPr lang="en-US" sz="9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&lt;GrpHdr&gt;</a:t>
            </a:r>
            <a:endParaRPr lang="en-US" sz="9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&lt;MsgId&gt;REFMT103001&lt;/MsgId&gt;</a:t>
            </a:r>
            <a:endParaRPr lang="en-US" sz="9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&lt;NbOfTxs&gt;1&lt;/NbOfTxs&gt;</a:t>
            </a:r>
            <a:endParaRPr lang="en-US" sz="9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&lt;/GrpHdr&gt;</a:t>
            </a:r>
            <a:endParaRPr lang="en-US" sz="9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&lt;CdtTrfTxInf&gt;</a:t>
            </a:r>
            <a:endParaRPr lang="en-US" sz="9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&lt;IntrBkSttlmAmt Ccy='USD'&gt;</a:t>
            </a:r>
            <a:endParaRPr lang="en-US" sz="9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50000</a:t>
            </a:r>
            <a:endParaRPr lang="en-US" sz="9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&lt;/IntrBkSttlmAmt&gt;</a:t>
            </a:r>
            <a:endParaRPr lang="en-US" sz="9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&lt;ChrgBr&gt;SHAR&lt;/ChrgBr&gt;</a:t>
            </a:r>
            <a:endParaRPr lang="en-US" sz="9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&lt;/CdtTrfTxInf&gt;</a:t>
            </a:r>
            <a:endParaRPr lang="en-US" sz="9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&lt;/FIToFICstmrCdtTrf&gt;</a:t>
            </a:r>
            <a:endParaRPr lang="en-US" sz="9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CFE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&lt;/Document&gt;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4892040" y="1600200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773936"/>
            <a:ext cx="274320" cy="274320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349240" y="16642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5349240" y="1911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MT103 · Extract tags</a:t>
            </a:r>
            <a:endParaRPr lang="en-US" sz="780"/>
          </a:p>
        </p:txBody>
      </p:sp>
      <p:sp>
        <p:nvSpPr>
          <p:cNvPr id="16" name="Shape 14"/>
          <p:cNvSpPr/>
          <p:nvPr/>
        </p:nvSpPr>
        <p:spPr>
          <a:xfrm>
            <a:off x="4892040" y="227685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2450592"/>
            <a:ext cx="274320" cy="274320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5349240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534924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:20:→MsgId · :32A:→SttlmAmt</a:t>
            </a:r>
            <a:endParaRPr lang="en-US" sz="780"/>
          </a:p>
        </p:txBody>
      </p:sp>
      <p:sp>
        <p:nvSpPr>
          <p:cNvPr id="21" name="Shape 19"/>
          <p:cNvSpPr/>
          <p:nvPr/>
        </p:nvSpPr>
        <p:spPr>
          <a:xfrm>
            <a:off x="4892040" y="2953512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0" y="3127248"/>
            <a:ext cx="274320" cy="274320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5349240" y="3017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(LLM)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534924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infers LEI, purpose codes</a:t>
            </a:r>
            <a:endParaRPr lang="en-US" sz="780"/>
          </a:p>
        </p:txBody>
      </p:sp>
      <p:sp>
        <p:nvSpPr>
          <p:cNvPr id="26" name="Shape 24"/>
          <p:cNvSpPr/>
          <p:nvPr/>
        </p:nvSpPr>
        <p:spPr>
          <a:xfrm>
            <a:off x="4892040" y="3630168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E63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83480" y="3803904"/>
            <a:ext cx="274320" cy="274320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5349240" y="36941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5349240" y="3941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XSD schema check vs pacs.008</a:t>
            </a:r>
            <a:endParaRPr lang="en-US" sz="780"/>
          </a:p>
        </p:txBody>
      </p:sp>
      <p:pic>
        <p:nvPicPr>
          <p:cNvPr id="31" name="Image 0" descr="assets/icon_arrowRigh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2843784"/>
            <a:ext cx="256032" cy="256032"/>
          </a:xfrm>
          <a:prstGeom prst="rect">
            <a:avLst/>
          </a:prstGeom>
        </p:spPr>
      </p:pic>
      <p:pic>
        <p:nvPicPr>
          <p:cNvPr id="32" name="Image 1" descr="assets/icon_arrowRigh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2843784"/>
            <a:ext cx="256032" cy="256032"/>
          </a:xfrm>
          <a:prstGeom prst="rect">
            <a:avLst/>
          </a:prstGeom>
        </p:spPr>
      </p:pic>
      <p:pic>
        <p:nvPicPr>
          <p:cNvPr id="33" name="Image 2" descr="assets/icon_checkCircl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572000"/>
            <a:ext cx="201168" cy="20116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04672" y="454456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Schema-validated</a:t>
            </a:r>
            <a:endParaRPr lang="en-US" sz="1050"/>
          </a:p>
        </p:txBody>
      </p:sp>
      <p:pic>
        <p:nvPicPr>
          <p:cNvPr id="35" name="Image 3" descr="assets/icon_checkCircl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456" y="4572000"/>
            <a:ext cx="201168" cy="20116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2761488" y="454456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/>
                <a:ea typeface="Calibri"/>
                <a:cs typeface="Calibri"/>
              </a:rPr>
              <a:t>(MX → MT reverse supported)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pic>
        <p:nvPicPr>
          <p:cNvPr id="37" name="Image 4" descr="assets/icon_checkCircl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4572000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775704" y="4544568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output</a:t>
            </a:r>
            <a:endParaRPr lang="en-US" sz="1050"/>
          </a:p>
        </p:txBody>
      </p:sp>
      <p:sp>
        <p:nvSpPr>
          <p:cNvPr id="39" name="Text 32"/>
          <p:cNvSpPr/>
          <p:nvPr/>
        </p:nvSpPr>
        <p:spPr>
          <a:xfrm>
            <a:off x="548640" y="50474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TARGETS</a:t>
            </a:r>
            <a:endParaRPr lang="en-US" sz="1100"/>
          </a:p>
        </p:txBody>
      </p:sp>
      <p:sp>
        <p:nvSpPr>
          <p:cNvPr id="40" name="Shape 33"/>
          <p:cNvSpPr/>
          <p:nvPr/>
        </p:nvSpPr>
        <p:spPr>
          <a:xfrm>
            <a:off x="548640" y="5376672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0B2E63"/>
          </a:solidFill>
          <a:ln/>
        </p:spPr>
      </p:sp>
      <p:sp>
        <p:nvSpPr>
          <p:cNvPr id="41" name="Text 34"/>
          <p:cNvSpPr/>
          <p:nvPr/>
        </p:nvSpPr>
        <p:spPr>
          <a:xfrm>
            <a:off x="777240" y="537667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&lt;2s   </a:t>
            </a: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transform time per message</a:t>
            </a:r>
            <a:endParaRPr lang="en-US" sz="2000"/>
          </a:p>
        </p:txBody>
      </p:sp>
      <p:sp>
        <p:nvSpPr>
          <p:cNvPr id="42" name="Shape 35"/>
          <p:cNvSpPr/>
          <p:nvPr/>
        </p:nvSpPr>
        <p:spPr>
          <a:xfrm>
            <a:off x="4343400" y="5376672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0B2E63"/>
          </a:solidFill>
          <a:ln/>
        </p:spPr>
      </p:sp>
      <p:sp>
        <p:nvSpPr>
          <p:cNvPr id="43" name="Text 36"/>
          <p:cNvSpPr/>
          <p:nvPr/>
        </p:nvSpPr>
        <p:spPr>
          <a:xfrm>
            <a:off x="4572000" y="537667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   </a:t>
            </a: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messages/day processing target</a:t>
            </a:r>
            <a:endParaRPr lang="en-US" sz="2000"/>
          </a:p>
        </p:txBody>
      </p:sp>
      <p:sp>
        <p:nvSpPr>
          <p:cNvPr id="44" name="Shape 37"/>
          <p:cNvSpPr/>
          <p:nvPr/>
        </p:nvSpPr>
        <p:spPr>
          <a:xfrm>
            <a:off x="8138160" y="5376672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0B2E63"/>
          </a:solidFill>
          <a:ln/>
        </p:spPr>
      </p:sp>
      <p:sp>
        <p:nvSpPr>
          <p:cNvPr id="45" name="Text 38"/>
          <p:cNvSpPr/>
          <p:nvPr/>
        </p:nvSpPr>
        <p:spPr>
          <a:xfrm>
            <a:off x="8366760" y="537667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  </a:t>
            </a: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accuracy</a:t>
            </a:r>
            <a:endParaRPr lang="en-US" sz="2000"/>
          </a:p>
        </p:txBody>
      </p:sp>
      <p:sp>
        <p:nvSpPr>
          <p:cNvPr id="47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/>
          </a:p>
        </p:txBody>
      </p:sp>
      <p:sp>
        <p:nvSpPr>
          <p:cNvPr id="48" name="Text 40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/>
          </a:p>
        </p:txBody>
      </p:sp>
      <p:sp>
        <p:nvSpPr>
          <p:cNvPr id="49" name="Text 41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AHEAD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Roadmap — Foundation to Production Scale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3657600"/>
          </a:xfrm>
          <a:prstGeom prst="roundRect">
            <a:avLst>
              <a:gd name="adj" fmla="val 30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50E6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81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731520" y="1856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5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950">
                <a:solidFill>
                  <a:srgbClr val="1B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(PayOrch)</a:t>
            </a:r>
            <a:endParaRPr lang="en-US" sz="95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950">
                <a:solidFill>
                  <a:srgbClr val="1B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MT ↔ MX</a:t>
            </a:r>
            <a:endParaRPr lang="en-US" sz="95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950">
                <a:solidFill>
                  <a:srgbClr val="1B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message pairs (101/103/202)</a:t>
            </a:r>
            <a:endParaRPr lang="en-US" sz="95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950">
                <a:solidFill>
                  <a:srgbClr val="1B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UI</a:t>
            </a:r>
            <a:endParaRPr lang="en-US" sz="95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950">
                <a:solidFill>
                  <a:srgbClr val="1B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rules + LLM mode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3410712" y="1417320"/>
            <a:ext cx="2697480" cy="3657600"/>
          </a:xfrm>
          <a:prstGeom prst="roundRect">
            <a:avLst>
              <a:gd name="adj" fmla="val 305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0E6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1581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3593592" y="1856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650"/>
          </a:p>
        </p:txBody>
      </p:sp>
      <p:sp>
        <p:nvSpPr>
          <p:cNvPr id="11" name="Text 9"/>
          <p:cNvSpPr/>
          <p:nvPr/>
        </p:nvSpPr>
        <p:spPr>
          <a:xfrm>
            <a:off x="3593592" y="23317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LangGraph agent wiring</a:t>
            </a:r>
            <a:endParaRPr lang="en-US" sz="95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per field</a:t>
            </a:r>
            <a:endParaRPr lang="en-US" sz="95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fine-tuning on SWIFT corpus</a:t>
            </a:r>
            <a:endParaRPr lang="en-US" sz="95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Auto-enrichment: LEI / BIC data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6272784" y="1417320"/>
            <a:ext cx="2697480" cy="3657600"/>
          </a:xfrm>
          <a:prstGeom prst="roundRect">
            <a:avLst>
              <a:gd name="adj" fmla="val 305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0E6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581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6455664" y="1856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Hardening</a:t>
            </a:r>
            <a:endParaRPr lang="en-US" sz="1650"/>
          </a:p>
        </p:txBody>
      </p:sp>
      <p:sp>
        <p:nvSpPr>
          <p:cNvPr id="15" name="Text 13"/>
          <p:cNvSpPr/>
          <p:nvPr/>
        </p:nvSpPr>
        <p:spPr>
          <a:xfrm>
            <a:off x="6455664" y="23317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persistence &amp; audit trail</a:t>
            </a:r>
            <a:endParaRPr lang="en-US" sz="95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/ OpenTelemetry tracing</a:t>
            </a:r>
            <a:endParaRPr lang="en-US" sz="95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secrets</a:t>
            </a:r>
            <a:endParaRPr lang="en-US" sz="95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support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9134856" y="1417320"/>
            <a:ext cx="2697480" cy="3657600"/>
          </a:xfrm>
          <a:prstGeom prst="roundRect">
            <a:avLst>
              <a:gd name="adj" fmla="val 305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0E6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7736" y="1581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9317736" y="1856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Expand</a:t>
            </a:r>
            <a:endParaRPr lang="en-US" sz="1650"/>
          </a:p>
        </p:txBody>
      </p:sp>
      <p:sp>
        <p:nvSpPr>
          <p:cNvPr id="19" name="Text 17"/>
          <p:cNvSpPr/>
          <p:nvPr/>
        </p:nvSpPr>
        <p:spPr>
          <a:xfrm>
            <a:off x="9317736" y="23317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MT700, MT900+ message types</a:t>
            </a:r>
            <a:endParaRPr lang="en-US" sz="95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pipeline</a:t>
            </a:r>
            <a:endParaRPr lang="en-US" sz="95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connectivity integration</a:t>
            </a:r>
            <a:endParaRPr lang="en-US" sz="95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□"/>
            </a:pPr>
            <a:r>
              <a:rPr lang="en-US" sz="950">
                <a:solidFill>
                  <a:srgbClr val="CF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 module</a:t>
            </a:r>
            <a:endParaRPr lang="en-US" sz="950"/>
          </a:p>
        </p:txBody>
      </p:sp>
      <p:pic>
        <p:nvPicPr>
          <p:cNvPr id="20" name="Image 0" descr="assets/icon_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303520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59536" y="527608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 </a:t>
            </a:r>
            <a:r>
              <a:rPr lang="en-US" sz="950">
                <a:solidFill>
                  <a:srgbClr val="9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+ intelligence</a:t>
            </a:r>
            <a:endParaRPr lang="en-US" sz="950"/>
          </a:p>
        </p:txBody>
      </p:sp>
      <p:pic>
        <p:nvPicPr>
          <p:cNvPr id="22" name="Image 1" descr="assets/icon_rep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5303520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21608" y="527608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 </a:t>
            </a:r>
            <a:r>
              <a:rPr lang="en-US" sz="950">
                <a:solidFill>
                  <a:srgbClr val="9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legacy fallback</a:t>
            </a:r>
            <a:endParaRPr lang="en-US" sz="950"/>
          </a:p>
        </p:txBody>
      </p:sp>
      <p:pic>
        <p:nvPicPr>
          <p:cNvPr id="24" name="Image 2" descr="assets/icon_clou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5303520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527608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Cloud-native </a:t>
            </a:r>
            <a:r>
              <a:rPr lang="en-US" sz="950" dirty="0">
                <a:solidFill>
                  <a:srgbClr val="9FC6EE"/>
                </a:solidFill>
                <a:latin typeface="Calibri"/>
                <a:ea typeface="Calibri"/>
                <a:cs typeface="Calibri"/>
              </a:rPr>
              <a:t>Cloud-first, </a:t>
            </a:r>
            <a:r>
              <a:rPr lang="en-US" sz="950" dirty="0" err="1">
                <a:solidFill>
                  <a:srgbClr val="9FC6EE"/>
                </a:solidFill>
                <a:latin typeface="Calibri"/>
                <a:ea typeface="Calibri"/>
                <a:cs typeface="Calibri"/>
              </a:rPr>
              <a:t>containerised</a:t>
            </a:r>
            <a:endParaRPr lang="en-US" sz="950" dirty="0" err="1">
              <a:latin typeface="Calibri"/>
              <a:ea typeface="Calibri"/>
              <a:cs typeface="Calibri"/>
            </a:endParaRPr>
          </a:p>
        </p:txBody>
      </p:sp>
      <p:pic>
        <p:nvPicPr>
          <p:cNvPr id="26" name="Image 3" descr="assets/icon_ey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4856" y="5303520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45752" y="527608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Observability-first  </a:t>
            </a:r>
            <a:r>
              <a:rPr lang="en-US" sz="950">
                <a:solidFill>
                  <a:srgbClr val="9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tracing built-in</a:t>
            </a:r>
            <a:endParaRPr lang="en-US" sz="95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/>
          </a:p>
        </p:txBody>
      </p:sp>
      <p:sp>
        <p:nvSpPr>
          <p:cNvPr id="30" name="Text 23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F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/>
          </a:p>
        </p:txBody>
      </p:sp>
      <p:sp>
        <p:nvSpPr>
          <p:cNvPr id="31" name="Text 24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2A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Modern, Enterprise-Proven Technologies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0B2E6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4160520" y="14173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7543800" y="141732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1064240" cy="416052"/>
          </a:xfrm>
          <a:prstGeom prst="rect">
            <a:avLst/>
          </a:prstGeom>
          <a:solidFill>
            <a:srgbClr val="F0F6FD"/>
          </a:solidFill>
          <a:ln/>
        </p:spPr>
      </p:sp>
      <p:pic>
        <p:nvPicPr>
          <p:cNvPr id="9" name="Image 0" descr="assets/icon_monito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0881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801368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4160520" y="1801368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Tailwind CSS + Vite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7543800" y="1801368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component-based UI</a:t>
            </a:r>
            <a:endParaRPr lang="en-US" sz="950"/>
          </a:p>
        </p:txBody>
      </p:sp>
      <p:pic>
        <p:nvPicPr>
          <p:cNvPr id="13" name="Image 1" descr="assets/icon_server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32486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217420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/>
          </a:p>
        </p:txBody>
      </p:sp>
      <p:sp>
        <p:nvSpPr>
          <p:cNvPr id="15" name="Text 11"/>
          <p:cNvSpPr/>
          <p:nvPr/>
        </p:nvSpPr>
        <p:spPr>
          <a:xfrm>
            <a:off x="4160520" y="2217420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v2</a:t>
            </a:r>
            <a:endParaRPr lang="en-US" sz="1000"/>
          </a:p>
        </p:txBody>
      </p:sp>
      <p:sp>
        <p:nvSpPr>
          <p:cNvPr id="16" name="Text 12"/>
          <p:cNvSpPr/>
          <p:nvPr/>
        </p:nvSpPr>
        <p:spPr>
          <a:xfrm>
            <a:off x="7543800" y="2217420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REST, schema validation, OpenAPI docs</a:t>
            </a:r>
            <a:endParaRPr lang="en-US" sz="950"/>
          </a:p>
        </p:txBody>
      </p:sp>
      <p:sp>
        <p:nvSpPr>
          <p:cNvPr id="17" name="Shape 13"/>
          <p:cNvSpPr/>
          <p:nvPr/>
        </p:nvSpPr>
        <p:spPr>
          <a:xfrm>
            <a:off x="548640" y="2633472"/>
            <a:ext cx="11064240" cy="416052"/>
          </a:xfrm>
          <a:prstGeom prst="rect">
            <a:avLst/>
          </a:prstGeom>
          <a:solidFill>
            <a:srgbClr val="F0F6FD"/>
          </a:solidFill>
          <a:ln/>
        </p:spPr>
      </p:sp>
      <p:pic>
        <p:nvPicPr>
          <p:cNvPr id="18" name="Image 2" descr="assets/icon_gitBranch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740914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633472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50"/>
          </a:p>
        </p:txBody>
      </p:sp>
      <p:sp>
        <p:nvSpPr>
          <p:cNvPr id="20" name="Text 15"/>
          <p:cNvSpPr/>
          <p:nvPr/>
        </p:nvSpPr>
        <p:spPr>
          <a:xfrm>
            <a:off x="4160520" y="2633472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LangChain</a:t>
            </a:r>
            <a:endParaRPr lang="en-US" sz="1000"/>
          </a:p>
        </p:txBody>
      </p:sp>
      <p:sp>
        <p:nvSpPr>
          <p:cNvPr id="21" name="Text 16"/>
          <p:cNvSpPr/>
          <p:nvPr/>
        </p:nvSpPr>
        <p:spPr>
          <a:xfrm>
            <a:off x="7543800" y="2633472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agentic AI workflows</a:t>
            </a:r>
            <a:endParaRPr lang="en-US" sz="950"/>
          </a:p>
        </p:txBody>
      </p:sp>
      <p:pic>
        <p:nvPicPr>
          <p:cNvPr id="22" name="Image 3" descr="assets/icon_cpu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156966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049524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/>
          </a:p>
        </p:txBody>
      </p:sp>
      <p:sp>
        <p:nvSpPr>
          <p:cNvPr id="24" name="Text 18"/>
          <p:cNvSpPr/>
          <p:nvPr/>
        </p:nvSpPr>
        <p:spPr>
          <a:xfrm>
            <a:off x="4160520" y="3049524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GPT-4o</a:t>
            </a:r>
            <a:endParaRPr lang="en-US" sz="1000"/>
          </a:p>
        </p:txBody>
      </p:sp>
      <p:sp>
        <p:nvSpPr>
          <p:cNvPr id="25" name="Text 19"/>
          <p:cNvSpPr/>
          <p:nvPr/>
        </p:nvSpPr>
        <p:spPr>
          <a:xfrm>
            <a:off x="7543800" y="3049524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mapping &amp; field enrichment</a:t>
            </a:r>
            <a:endParaRPr lang="en-US" sz="950"/>
          </a:p>
        </p:txBody>
      </p:sp>
      <p:sp>
        <p:nvSpPr>
          <p:cNvPr id="26" name="Shape 20"/>
          <p:cNvSpPr/>
          <p:nvPr/>
        </p:nvSpPr>
        <p:spPr>
          <a:xfrm>
            <a:off x="548640" y="3465576"/>
            <a:ext cx="11064240" cy="416052"/>
          </a:xfrm>
          <a:prstGeom prst="rect">
            <a:avLst/>
          </a:prstGeom>
          <a:solidFill>
            <a:srgbClr val="F0F6FD"/>
          </a:solidFill>
          <a:ln/>
        </p:spPr>
      </p:sp>
      <p:pic>
        <p:nvPicPr>
          <p:cNvPr id="27" name="Image 4" descr="assets/icon_layers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573018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3465576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50"/>
          </a:p>
        </p:txBody>
      </p:sp>
      <p:sp>
        <p:nvSpPr>
          <p:cNvPr id="29" name="Text 22"/>
          <p:cNvSpPr/>
          <p:nvPr/>
        </p:nvSpPr>
        <p:spPr>
          <a:xfrm>
            <a:off x="4160520" y="3465576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BaseSettings + .env</a:t>
            </a:r>
            <a:endParaRPr lang="en-US" sz="1000"/>
          </a:p>
        </p:txBody>
      </p:sp>
      <p:sp>
        <p:nvSpPr>
          <p:cNvPr id="30" name="Text 23"/>
          <p:cNvSpPr/>
          <p:nvPr/>
        </p:nvSpPr>
        <p:spPr>
          <a:xfrm>
            <a:off x="7543800" y="3465576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12-factor, environment-scoped configuration</a:t>
            </a:r>
            <a:endParaRPr lang="en-US" sz="950"/>
          </a:p>
        </p:txBody>
      </p:sp>
      <p:pic>
        <p:nvPicPr>
          <p:cNvPr id="31" name="Image 5" descr="assets/icon_fileText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989070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5840" y="3881628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50"/>
          </a:p>
        </p:txBody>
      </p:sp>
      <p:sp>
        <p:nvSpPr>
          <p:cNvPr id="33" name="Text 25"/>
          <p:cNvSpPr/>
          <p:nvPr/>
        </p:nvSpPr>
        <p:spPr>
          <a:xfrm>
            <a:off x="4160520" y="3881628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Logger</a:t>
            </a:r>
            <a:endParaRPr lang="en-US" sz="1000"/>
          </a:p>
        </p:txBody>
      </p:sp>
      <p:sp>
        <p:nvSpPr>
          <p:cNvPr id="34" name="Text 26"/>
          <p:cNvSpPr/>
          <p:nvPr/>
        </p:nvSpPr>
        <p:spPr>
          <a:xfrm>
            <a:off x="7543800" y="3881628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observability, grep-friendly</a:t>
            </a:r>
            <a:endParaRPr lang="en-US" sz="950"/>
          </a:p>
        </p:txBody>
      </p:sp>
      <p:sp>
        <p:nvSpPr>
          <p:cNvPr id="35" name="Shape 27"/>
          <p:cNvSpPr/>
          <p:nvPr/>
        </p:nvSpPr>
        <p:spPr>
          <a:xfrm>
            <a:off x="548640" y="4297680"/>
            <a:ext cx="11064240" cy="416052"/>
          </a:xfrm>
          <a:prstGeom prst="rect">
            <a:avLst/>
          </a:prstGeom>
          <a:solidFill>
            <a:srgbClr val="F0F6FD"/>
          </a:solidFill>
          <a:ln/>
        </p:spPr>
      </p:sp>
      <p:pic>
        <p:nvPicPr>
          <p:cNvPr id="36" name="Image 6" descr="assets/icon_eye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405122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05840" y="4297680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050"/>
          </a:p>
        </p:txBody>
      </p:sp>
      <p:sp>
        <p:nvSpPr>
          <p:cNvPr id="38" name="Text 29"/>
          <p:cNvSpPr/>
          <p:nvPr/>
        </p:nvSpPr>
        <p:spPr>
          <a:xfrm>
            <a:off x="4160520" y="4297680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/ OpenTelemetry</a:t>
            </a:r>
            <a:endParaRPr lang="en-US" sz="1000"/>
          </a:p>
        </p:txBody>
      </p:sp>
      <p:sp>
        <p:nvSpPr>
          <p:cNvPr id="39" name="Text 30"/>
          <p:cNvSpPr/>
          <p:nvPr/>
        </p:nvSpPr>
        <p:spPr>
          <a:xfrm>
            <a:off x="7543800" y="4297680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tracing &amp; performance monitoring</a:t>
            </a:r>
            <a:endParaRPr lang="en-US" sz="950"/>
          </a:p>
        </p:txBody>
      </p:sp>
      <p:pic>
        <p:nvPicPr>
          <p:cNvPr id="40" name="Image 7" descr="assets/icon_database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821174"/>
            <a:ext cx="201168" cy="20116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005840" y="4713732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/>
          </a:p>
        </p:txBody>
      </p:sp>
      <p:sp>
        <p:nvSpPr>
          <p:cNvPr id="42" name="Text 32"/>
          <p:cNvSpPr/>
          <p:nvPr/>
        </p:nvSpPr>
        <p:spPr>
          <a:xfrm>
            <a:off x="4160520" y="4713732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 (roadmap)</a:t>
            </a:r>
            <a:endParaRPr lang="en-US" sz="1000"/>
          </a:p>
        </p:txBody>
      </p:sp>
      <p:sp>
        <p:nvSpPr>
          <p:cNvPr id="43" name="Text 33"/>
          <p:cNvSpPr/>
          <p:nvPr/>
        </p:nvSpPr>
        <p:spPr>
          <a:xfrm>
            <a:off x="7543800" y="4713732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message persistence</a:t>
            </a:r>
            <a:endParaRPr lang="en-US" sz="950"/>
          </a:p>
        </p:txBody>
      </p:sp>
      <p:sp>
        <p:nvSpPr>
          <p:cNvPr id="44" name="Shape 34"/>
          <p:cNvSpPr/>
          <p:nvPr/>
        </p:nvSpPr>
        <p:spPr>
          <a:xfrm>
            <a:off x="548640" y="5129784"/>
            <a:ext cx="11064240" cy="416052"/>
          </a:xfrm>
          <a:prstGeom prst="rect">
            <a:avLst/>
          </a:prstGeom>
          <a:solidFill>
            <a:srgbClr val="F0F6FD"/>
          </a:solidFill>
          <a:ln/>
        </p:spPr>
      </p:sp>
      <p:pic>
        <p:nvPicPr>
          <p:cNvPr id="45" name="Image 8" descr="assets/icon_box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5237226"/>
            <a:ext cx="201168" cy="201168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1005840" y="5129784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50"/>
          </a:p>
        </p:txBody>
      </p:sp>
      <p:sp>
        <p:nvSpPr>
          <p:cNvPr id="47" name="Text 36"/>
          <p:cNvSpPr/>
          <p:nvPr/>
        </p:nvSpPr>
        <p:spPr>
          <a:xfrm>
            <a:off x="4160520" y="5129784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</a:t>
            </a:r>
            <a:endParaRPr lang="en-US" sz="1000"/>
          </a:p>
        </p:txBody>
      </p:sp>
      <p:sp>
        <p:nvSpPr>
          <p:cNvPr id="48" name="Text 37"/>
          <p:cNvSpPr/>
          <p:nvPr/>
        </p:nvSpPr>
        <p:spPr>
          <a:xfrm>
            <a:off x="7543800" y="5129784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&amp; cloud deployment</a:t>
            </a:r>
            <a:endParaRPr lang="en-US" sz="950"/>
          </a:p>
        </p:txBody>
      </p:sp>
      <p:pic>
        <p:nvPicPr>
          <p:cNvPr id="49" name="Image 9" descr="assets/icon_lock_blu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5653278"/>
            <a:ext cx="201168" cy="201168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1005840" y="5545836"/>
            <a:ext cx="3154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050"/>
          </a:p>
        </p:txBody>
      </p:sp>
      <p:sp>
        <p:nvSpPr>
          <p:cNvPr id="51" name="Text 39"/>
          <p:cNvSpPr/>
          <p:nvPr/>
        </p:nvSpPr>
        <p:spPr>
          <a:xfrm>
            <a:off x="4160520" y="5545836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(integration-ready)</a:t>
            </a:r>
            <a:endParaRPr lang="en-US" sz="1000"/>
          </a:p>
        </p:txBody>
      </p:sp>
      <p:sp>
        <p:nvSpPr>
          <p:cNvPr id="52" name="Text 40"/>
          <p:cNvSpPr/>
          <p:nvPr/>
        </p:nvSpPr>
        <p:spPr>
          <a:xfrm>
            <a:off x="7543800" y="5545836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credential management</a:t>
            </a:r>
            <a:endParaRPr lang="en-US" sz="950"/>
          </a:p>
        </p:txBody>
      </p:sp>
      <p:sp>
        <p:nvSpPr>
          <p:cNvPr id="53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GenAI Migration Platform  |  Microsoft Build 2026</a:t>
            </a:r>
            <a:endParaRPr lang="en-US" sz="900"/>
          </a:p>
        </p:txBody>
      </p:sp>
      <p:sp>
        <p:nvSpPr>
          <p:cNvPr id="54" name="Text 42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/>
          </a:p>
        </p:txBody>
      </p:sp>
      <p:sp>
        <p:nvSpPr>
          <p:cNvPr id="55" name="Text 43"/>
          <p:cNvSpPr/>
          <p:nvPr/>
        </p:nvSpPr>
        <p:spPr>
          <a:xfrm>
            <a:off x="113687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 20022 GenAI Migration Platform</dc:title>
  <dc:subject>PptxGenJS Presentation</dc:subject>
  <dc:creator>Microsoft Build 2026</dc:creator>
  <cp:revision>165</cp:revision>
  <dcterms:created xsi:type="dcterms:W3CDTF">2026-07-02T10:31:44Z</dcterms:created>
  <dcterms:modified xsi:type="dcterms:W3CDTF">2026-07-02T11:49:46Z</dcterms:modified>
</cp:coreProperties>
</file>