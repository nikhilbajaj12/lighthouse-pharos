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329184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3200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 Light"/>
              </a:rPr>
              <a:t>ISO 20022 GenAI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188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B8D4F5"/>
                </a:solidFill>
                <a:latin typeface="Calibri Light"/>
              </a:rPr>
              <a:t>Migration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029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2"/>
                </a:solidFill>
                <a:latin typeface="Calibri Light"/>
              </a:rPr>
              <a:t>AI-Powered SWIFT MT  →  ISO 20022 MX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42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68A"/>
                </a:solidFill>
                <a:latin typeface="Calibri Light"/>
              </a:rPr>
              <a:t>Automating the Future of Cross-Border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520440"/>
            <a:ext cx="2574036" cy="411480"/>
          </a:xfrm>
          <a:prstGeom prst="roundRect">
            <a:avLst>
              <a:gd name="adj" fmla="val 15000"/>
            </a:avLst>
          </a:prstGeom>
          <a:solidFill>
            <a:srgbClr val="006FC7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3584448"/>
            <a:ext cx="23545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Bidirectional MT ↔ MX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0964" y="3520440"/>
            <a:ext cx="2048256" cy="411480"/>
          </a:xfrm>
          <a:prstGeom prst="roundRect">
            <a:avLst>
              <a:gd name="adj" fmla="val 15000"/>
            </a:avLst>
          </a:prstGeom>
          <a:solidFill>
            <a:srgbClr val="006FC7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0692" y="35844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LangGraph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3520440"/>
            <a:ext cx="1943100" cy="411480"/>
          </a:xfrm>
          <a:prstGeom prst="roundRect">
            <a:avLst>
              <a:gd name="adj" fmla="val 15000"/>
            </a:avLst>
          </a:prstGeom>
          <a:solidFill>
            <a:srgbClr val="006FC7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1828" y="3584448"/>
            <a:ext cx="1723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FastAPI + 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520440"/>
            <a:ext cx="2363724" cy="411480"/>
          </a:xfrm>
          <a:prstGeom prst="roundRect">
            <a:avLst>
              <a:gd name="adj" fmla="val 15000"/>
            </a:avLst>
          </a:prstGeom>
          <a:solidFill>
            <a:srgbClr val="006FC7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3584448"/>
            <a:ext cx="2144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Azure OpenAI GPT-4o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4684" y="3520440"/>
            <a:ext cx="2153412" cy="411480"/>
          </a:xfrm>
          <a:prstGeom prst="roundRect">
            <a:avLst>
              <a:gd name="adj" fmla="val 15000"/>
            </a:avLst>
          </a:prstGeom>
          <a:solidFill>
            <a:srgbClr val="006FC7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4411" y="3584448"/>
            <a:ext cx="19339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PayOrch Standards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160520"/>
            <a:ext cx="11430000" cy="182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Calibri"/>
              </a:rPr>
              <a:t>Enterprise-grade  |  July 2026  |  Internal 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The SWIFT MT Sunset Is Here — Are Banks Ready?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905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4864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FC7"/>
                </a:solidFill>
                <a:latin typeface="Calibri"/>
              </a:rPr>
              <a:t>Regulatory 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SWIFT mandates full migration from MT to ISO 20022 MX.
Co-existence period ended Nov 2025 — non-compliance is not an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18872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905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3749039" cy="54864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FC7"/>
                </a:solidFill>
                <a:latin typeface="Calibri"/>
              </a:rPr>
              <a:t>Complex Manual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MT messages are flat tag-based text; MX messages are hierarchical XML.
Manual field mapping is error-prone and unsustainable at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905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749039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A"/>
                </a:solidFill>
                <a:latin typeface="Calibri"/>
              </a:rPr>
              <a:t>Rich Data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6916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ISO 20022 MX demands LEI codes, purpose codes &amp; structured addresses
that simply don't exist in legacy MT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5661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905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566160"/>
            <a:ext cx="3749039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A"/>
                </a:solidFill>
                <a:latin typeface="Calibri"/>
              </a:rPr>
              <a:t>Scale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0690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Banks process millions of payment messages daily.
Manual pipelines cannot match the required throughput.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5661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905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566160"/>
            <a:ext cx="3749039" cy="54864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00"/>
                </a:solidFill>
                <a:latin typeface="Calibri"/>
              </a:rPr>
              <a:t>Compliance &amp; Settlement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0690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Incorrect field mapping causes failed settlements,
regulatory penalties and reputational damage.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661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003D8F"/>
          </a:solidFill>
          <a:ln w="12700">
            <a:solidFill>
              <a:srgbClr val="003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~$500 B+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D4F5"/>
                </a:solidFill>
                <a:latin typeface="Calibri"/>
              </a:rPr>
              <a:t>daily cross-border payments
at risk of non-compliance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GenAI + Agentic AI to Automate MT ↔ MX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70432"/>
            <a:ext cx="11640312" cy="749808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3D8F"/>
                </a:solidFill>
                <a:latin typeface="Calibri"/>
              </a:rPr>
              <a:t>An AI-powered platform that automatically parses legacy SWIFT MT messages, maps fields to ISO 20022 MX schema, enriches missing data using LLM reasoning, and generates schema-validated XML — fully automated and bidirectional.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84831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3749039" cy="64008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148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FC7"/>
                </a:solidFill>
                <a:latin typeface="Calibri"/>
              </a:rPr>
              <a:t>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7860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 LangGraph multi-agent pipeline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Parsing  •  Mapping  •  Enrichment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Validation  •  XML generation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Confidence scoring per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084831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2084831"/>
            <a:ext cx="3749039" cy="64008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2148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68A"/>
                </a:solidFill>
                <a:latin typeface="Calibri"/>
              </a:rPr>
              <a:t>Bidirectional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57860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 MT → MX  and  MX → MT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Full reverse transformation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Legacy fallback supported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Zero data loss guarantee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084831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524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2084831"/>
            <a:ext cx="3749039" cy="64008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148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46"/>
                </a:solidFill>
                <a:latin typeface="Calibri"/>
              </a:rPr>
              <a:t>Compliant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7860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 Schema-validated ISO 20022 XML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pain.001  •  pacs.008  •  pacs.009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Production-ready output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•  Audit trail on every 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0740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8F"/>
                </a:solidFill>
                <a:latin typeface="Calibri"/>
              </a:rPr>
              <a:t>Supported Message Pairs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73168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MT101  ↔  pain.001  —  Customer Payment Initiation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MT103  ↔  pacs.008  —  Customer Credit Transfer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2E"/>
                </a:solidFill>
                <a:latin typeface="Calibri"/>
              </a:rPr>
              <a:t>MT202  ↔  pacs.009  —  Financial Institution Transfer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370832"/>
            <a:ext cx="18288" cy="18288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07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8F"/>
                </a:solidFill>
                <a:latin typeface="Calibri"/>
              </a:rPr>
              <a:t>Transformation Modes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773168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8371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8371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—  Deterministic rule-based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276088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270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340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A"/>
                </a:solidFill>
                <a:latin typeface="Calibri"/>
              </a:rP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3400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—  GPT-4o powered semantic reasoning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779007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270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843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6"/>
                </a:solidFill>
                <a:latin typeface="Calibri"/>
              </a:rPr>
              <a:t>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8430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—  Rules first, LLM fills the gaps (default)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High Level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End-to-End Platform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1965960" cy="146304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1746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Client /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17465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React UI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API Consumer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SWIFT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2908" y="1234440"/>
            <a:ext cx="1965960" cy="146304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2636" y="1325880"/>
            <a:ext cx="1746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FastAPI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636" y="1691640"/>
            <a:ext cx="17465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POST /transform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POST /reverse-transform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GET /health  /config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234440"/>
            <a:ext cx="1965960" cy="146304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325880"/>
            <a:ext cx="1746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Transformation
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1691640"/>
            <a:ext cx="17465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LangGraph Graph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Parse→Map→Enrich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→Validate→Gen XML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0083" y="1234440"/>
            <a:ext cx="1965960" cy="146304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811" y="1325880"/>
            <a:ext cx="1746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Agent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9811" y="1691640"/>
            <a:ext cx="17465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Mapping Agent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Enrichment Agent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Validation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8672" y="1234440"/>
            <a:ext cx="1965960" cy="1463040"/>
          </a:xfrm>
          <a:prstGeom prst="roundRect">
            <a:avLst>
              <a:gd name="adj" fmla="val 8000"/>
            </a:avLst>
          </a:prstGeom>
          <a:solidFill>
            <a:srgbClr val="D6EAFF"/>
          </a:solidFill>
          <a:ln w="15240">
            <a:solidFill>
              <a:srgbClr val="003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399" y="1325880"/>
            <a:ext cx="1746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8F"/>
                </a:solidFill>
                <a:latin typeface="Calibri"/>
              </a:rPr>
              <a:t>Azure OpenAI
GPT-4o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399" y="1691640"/>
            <a:ext cx="17465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Semantic mapping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Field enrichment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LLM reasoning</a:t>
            </a:r>
          </a:p>
        </p:txBody>
      </p:sp>
      <p:sp>
        <p:nvSpPr>
          <p:cNvPr id="22" name="Can 21"/>
          <p:cNvSpPr/>
          <p:nvPr/>
        </p:nvSpPr>
        <p:spPr>
          <a:xfrm>
            <a:off x="2292858" y="1837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4711445" y="1837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>
            <a:off x="7130034" y="1837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n 24"/>
          <p:cNvSpPr/>
          <p:nvPr/>
        </p:nvSpPr>
        <p:spPr>
          <a:xfrm>
            <a:off x="9548622" y="1837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2834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968A"/>
                </a:solidFill>
                <a:latin typeface="Calibri"/>
              </a:rPr>
              <a:t>⇄  Bidirectional (MX → MT reverse also supported)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154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8F"/>
                </a:solidFill>
                <a:latin typeface="Calibri"/>
              </a:rPr>
              <a:t>Transformation Pipeline Detail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657600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Parse 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023360"/>
            <a:ext cx="1883663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Identify type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Extract tags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8618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8346" y="3657600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Map 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8346" y="4023360"/>
            <a:ext cx="1883663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MT tag → MX path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Rule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2916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524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2644" y="3657600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A00"/>
                </a:solidFill>
                <a:latin typeface="Calibri"/>
              </a:rPr>
              <a:t>Enrich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2644" y="4023360"/>
            <a:ext cx="1883663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LLM fills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missing fields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7213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524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6941" y="3657600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6"/>
                </a:solidFill>
                <a:latin typeface="Calibri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6941" y="4023360"/>
            <a:ext cx="1883663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XSD check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Schema compliance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11511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D6EAFF"/>
          </a:solidFill>
          <a:ln w="15240">
            <a:solidFill>
              <a:srgbClr val="003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39" y="3657600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8F"/>
                </a:solidFill>
                <a:latin typeface="Calibri"/>
              </a:rPr>
              <a:t>Generate XML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39" y="4023360"/>
            <a:ext cx="1883663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ISO 20022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Validated output</a:t>
            </a:r>
          </a:p>
        </p:txBody>
      </p:sp>
      <p:sp>
        <p:nvSpPr>
          <p:cNvPr id="43" name="Can 42"/>
          <p:cNvSpPr/>
          <p:nvPr/>
        </p:nvSpPr>
        <p:spPr>
          <a:xfrm>
            <a:off x="2344293" y="4123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an 43"/>
          <p:cNvSpPr/>
          <p:nvPr/>
        </p:nvSpPr>
        <p:spPr>
          <a:xfrm>
            <a:off x="4728591" y="4123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an 44"/>
          <p:cNvSpPr/>
          <p:nvPr/>
        </p:nvSpPr>
        <p:spPr>
          <a:xfrm>
            <a:off x="7112889" y="4123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n 45"/>
          <p:cNvSpPr/>
          <p:nvPr/>
        </p:nvSpPr>
        <p:spPr>
          <a:xfrm>
            <a:off x="9497187" y="4123944"/>
            <a:ext cx="347472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800600"/>
            <a:ext cx="11640312" cy="182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4320" y="4937759"/>
            <a:ext cx="2743200" cy="43891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016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5001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D8F"/>
                </a:solidFill>
                <a:latin typeface="Calibri"/>
              </a:rPr>
              <a:t>•  Async non-blocking FastAPI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0" y="4937759"/>
            <a:ext cx="2743200" cy="43891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016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8" y="5001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D8F"/>
                </a:solidFill>
                <a:latin typeface="Calibri"/>
              </a:rPr>
              <a:t>•  Stateless REST — horizontally scalable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4937759"/>
            <a:ext cx="2743200" cy="43891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016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5001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D8F"/>
                </a:solidFill>
                <a:latin typeface="Calibri"/>
              </a:rPr>
              <a:t>•  12-factor config via env variables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4937759"/>
            <a:ext cx="2743200" cy="43891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016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288" y="5001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D8F"/>
                </a:solidFill>
                <a:latin typeface="Calibri"/>
              </a:rPr>
              <a:t>•  Azure Key Vault for secrets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Layered, Enterprise-Grade Design — PayOrch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07008"/>
            <a:ext cx="8046720" cy="109728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73152" cy="1097280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FC7"/>
                </a:solidFill>
                <a:latin typeface="Calibri"/>
              </a:rPr>
              <a:t>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82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React 18 + TypeScript + Tailwind CSS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8016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→  Component-based responsive design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REST API integration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Vite dev server / optimised build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69664" y="2304288"/>
            <a:ext cx="256032" cy="91440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2395728"/>
            <a:ext cx="8046720" cy="109728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395728"/>
            <a:ext cx="73152" cy="109728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871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A"/>
                </a:solidFill>
                <a:latin typeface="Calibri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FastAPI + Pydantic v2 Schemas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→  Routers: /transform  /reverse  /health  /validation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Async/await throughout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OpenAPI docs auto-generated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169664" y="3493008"/>
            <a:ext cx="256032" cy="91440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" y="3584448"/>
            <a:ext cx="8046720" cy="1097280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524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584448"/>
            <a:ext cx="73152" cy="1097280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7588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6A00"/>
                </a:solidFill>
                <a:latin typeface="Calibri"/>
              </a:rPr>
              <a:t>Service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0599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TransformationService  •  ReverseOrchestrator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5760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→  MT Parser  •  MX Generator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Enrichment Service  •  Validation Service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Business logic orchestration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4169664" y="4681728"/>
            <a:ext cx="256032" cy="91440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4773168"/>
            <a:ext cx="8046720" cy="109728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524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773168"/>
            <a:ext cx="73152" cy="1097280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86460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6"/>
                </a:solidFill>
                <a:latin typeface="Calibri"/>
              </a:rPr>
              <a:t>Agent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2486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LangGraph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8463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→  Mapping Agent — MT→MX field mapping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Enrichment Agent — LEI / purpose codes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Validation Agent — XSD compliance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→  XML Parser Agent — MX→MT reverse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169664" y="5870448"/>
            <a:ext cx="256032" cy="91440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" y="6126479"/>
            <a:ext cx="3840480" cy="804672"/>
          </a:xfrm>
          <a:prstGeom prst="roundRect">
            <a:avLst>
              <a:gd name="adj" fmla="val 8000"/>
            </a:avLst>
          </a:prstGeom>
          <a:solidFill>
            <a:srgbClr val="D6EAFF"/>
          </a:solidFill>
          <a:ln w="15240">
            <a:solidFill>
              <a:srgbClr val="003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904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8F"/>
                </a:solidFill>
                <a:latin typeface="Calibri"/>
              </a:rPr>
              <a:t>Azure OpenAI  (GPT-4o)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830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Semantic reasoning  •  LLM enrichment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6126479"/>
            <a:ext cx="4023360" cy="80467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61904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SQLite / PostgreSQL (roadmap)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4830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Audit trail  •  Message persistence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12070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8F"/>
                </a:solidFill>
                <a:latin typeface="Calibri"/>
              </a:rPr>
              <a:t>Infrastructure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62763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270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17007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Pydantic BaseSettings
.env + Azure Key Vault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263347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270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27066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Structured JSON
Observability-ready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363931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270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96528" y="371246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A00"/>
                </a:solidFill>
                <a:latin typeface="Calibri"/>
              </a:rPr>
              <a:t>Tracing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Phoenix / OpenTelemetry
LLM call monitoring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464515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270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47183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6"/>
                </a:solidFill>
                <a:latin typeface="Calibri"/>
              </a:rPr>
              <a:t>Deploy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96528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Docker + Compose
Cloud-native containers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See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Demo: MT103 → pacs.008  |  International Wire Transfer — USD 50,000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566160" cy="38862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905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566160" cy="64008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A00"/>
                </a:solidFill>
                <a:latin typeface="Calibri"/>
              </a:rPr>
              <a:t>INPUT — MT103 (Legacy SWIFT)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64208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ourier New"/>
              </a:rPr>
              <a:t>:20:REFMT103001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:23B:CRED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:32A:260605USD50000,00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:50K:/123456789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       JOHN DOE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       MUMBAI, INDIA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:59:/987654321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       JANE SMITH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       NEW YORK, USA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1A1A2E"/>
                </a:solidFill>
                <a:latin typeface="Courier New"/>
              </a:rPr>
              <a:t>:71A:SHA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188720"/>
            <a:ext cx="4526280" cy="896112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524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188720"/>
            <a:ext cx="64008" cy="896112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618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FC7"/>
                </a:solidFill>
                <a:latin typeface="Calibri"/>
              </a:rPr>
              <a:t>1   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59105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Detect MT103  •  Extract :20: :23B: :32A: :50K: :59: :71A: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204204" y="2084832"/>
            <a:ext cx="256032" cy="109728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2194560"/>
            <a:ext cx="4526280" cy="896112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524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2194560"/>
            <a:ext cx="64008" cy="89611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2267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  <a:latin typeface="Calibri"/>
              </a:rPr>
              <a:t>2  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59689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:20: → GrpHdr/MsgId  •  :32A: → IntrBkSttlmAmt
:50K: → Dbtr/DbtrAcct  •  :59: → Cdtr/CdtrAcct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204204" y="3090672"/>
            <a:ext cx="256032" cy="109728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69080" y="3200400"/>
            <a:ext cx="4526280" cy="896112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524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200400"/>
            <a:ext cx="64008" cy="896112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3273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A00"/>
                </a:solidFill>
                <a:latin typeface="Calibri"/>
              </a:rPr>
              <a:t>3   ENRICH  (LLM)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360273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GPT-4o infers: LEI identifiers  •  Purpose codes
Structured addresses  •  Missing mandatory fields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204204" y="4096512"/>
            <a:ext cx="256032" cy="109728"/>
          </a:xfrm>
          <a:prstGeom prst="downArrow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69080" y="4206240"/>
            <a:ext cx="4526280" cy="896112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524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4206240"/>
            <a:ext cx="64008" cy="896112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4279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6"/>
                </a:solidFill>
                <a:latin typeface="Calibri"/>
              </a:rPr>
              <a:t>4   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460857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XSD schema check against pacs.008
All mandatory elements 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1188720"/>
            <a:ext cx="3090672" cy="3886200"/>
          </a:xfrm>
          <a:prstGeom prst="roundRect">
            <a:avLst>
              <a:gd name="adj" fmla="val 8000"/>
            </a:avLst>
          </a:prstGeom>
          <a:solidFill>
            <a:srgbClr val="F0FDF5"/>
          </a:solidFill>
          <a:ln w="1905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1188720"/>
            <a:ext cx="3090672" cy="64008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12618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6"/>
                </a:solidFill>
                <a:latin typeface="Calibri"/>
              </a:rPr>
              <a:t>OUTPUT — pacs.008 XML (ISO 20022)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1664208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urier New"/>
              </a:rPr>
              <a:t>&lt;Document&gt;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&lt;FIToFICstmrCdtTrf&gt;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&lt;GrpHdr&gt;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&lt;MsgId&gt;REFMT103001&lt;/MsgId&gt;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&lt;NbOfTxs&gt;1&lt;/NbOfTxs&gt;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&lt;/GrpHdr&gt;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&lt;CdtTrfTxInf&gt;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&lt;IntrBkSttlmAmt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  Ccy='USD'&gt;50000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&lt;/IntrBkSttlmAmt&gt;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 &lt;ChrgBr&gt;SHAR&lt;/ChrgBr&gt;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 &lt;/CdtTrfTxInf&gt;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 &lt;/FIToFICstmrCdtTrf&gt;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A1A2E"/>
                </a:solidFill>
                <a:latin typeface="Courier New"/>
              </a:rPr>
              <a:t>&lt;/Document&gt;</a:t>
            </a:r>
          </a:p>
        </p:txBody>
      </p:sp>
      <p:sp>
        <p:nvSpPr>
          <p:cNvPr id="34" name="Can 33"/>
          <p:cNvSpPr/>
          <p:nvPr/>
        </p:nvSpPr>
        <p:spPr>
          <a:xfrm>
            <a:off x="3840480" y="3003803"/>
            <a:ext cx="201168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n 34"/>
          <p:cNvSpPr/>
          <p:nvPr/>
        </p:nvSpPr>
        <p:spPr>
          <a:xfrm>
            <a:off x="8595360" y="3003803"/>
            <a:ext cx="201168" cy="256032"/>
          </a:xfrm>
          <a:prstGeom prst="can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" y="5230368"/>
            <a:ext cx="11640312" cy="457200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270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46"/>
                </a:solidFill>
                <a:latin typeface="Calibri"/>
              </a:rPr>
              <a:t>✔  Schema-validated      ✔  Bidirectional (MX → MT reverse supported)      ✔  Production-ready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4-Phase Roadmap — Foundation to Production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816352" cy="3749039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1905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816352" cy="73152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6"/>
                </a:solidFill>
                <a:latin typeface="Calibri"/>
              </a:rPr>
              <a:t>Phase 1
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94560"/>
            <a:ext cx="25420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✔  Layered architecture (PayOrch)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✔  Bidirectional MT ↔ MX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✔  3 message pairs (101/103/202)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✔  FastAPI + React UI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✔  Hybrid rules + LLM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1188720"/>
            <a:ext cx="2816352" cy="3749039"/>
          </a:xfrm>
          <a:prstGeom prst="roundRect">
            <a:avLst>
              <a:gd name="adj" fmla="val 8000"/>
            </a:avLst>
          </a:prstGeom>
          <a:solidFill>
            <a:srgbClr val="D6E8FA"/>
          </a:solidFill>
          <a:ln w="19050">
            <a:solidFill>
              <a:srgbClr val="006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4" y="1188720"/>
            <a:ext cx="2816352" cy="73152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298448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FC7"/>
                </a:solidFill>
                <a:latin typeface="Calibri"/>
              </a:rPr>
              <a:t>Phase 2
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8105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Calibri"/>
              </a:rP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194560"/>
            <a:ext cx="25420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□  Full LangGraph agent wiring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Confidence scoring per field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LLM fine-tuning on SWIFT corpus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Auto-enrichment: LEI / BIC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188720"/>
            <a:ext cx="2816352" cy="3749039"/>
          </a:xfrm>
          <a:prstGeom prst="roundRect">
            <a:avLst>
              <a:gd name="adj" fmla="val 8000"/>
            </a:avLst>
          </a:prstGeom>
          <a:solidFill>
            <a:srgbClr val="D0F0ED"/>
          </a:solidFill>
          <a:ln w="19050">
            <a:solidFill>
              <a:srgbClr val="00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188720"/>
            <a:ext cx="2816352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298448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A"/>
                </a:solidFill>
                <a:latin typeface="Calibri"/>
              </a:rPr>
              <a:t>Phase 3
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8105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Calibri"/>
              </a:rPr>
              <a:t>Enterprise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94560"/>
            <a:ext cx="25420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□  DB persistence &amp; audit trail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Phoenix / OpenTelemetry tracing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Azure Key Vault secrets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Multi-tenant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188720"/>
            <a:ext cx="2816352" cy="3749039"/>
          </a:xfrm>
          <a:prstGeom prst="roundRect">
            <a:avLst>
              <a:gd name="adj" fmla="val 8000"/>
            </a:avLst>
          </a:prstGeom>
          <a:solidFill>
            <a:srgbClr val="FDF0D5"/>
          </a:solidFill>
          <a:ln w="19050">
            <a:solidFill>
              <a:srgbClr val="C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17152" y="1188720"/>
            <a:ext cx="2816352" cy="73152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298448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6A00"/>
                </a:solidFill>
                <a:latin typeface="Calibri"/>
              </a:rPr>
              <a:t>Phase 4
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18105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Calibri"/>
              </a:rPr>
              <a:t>Scale &amp; Expand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194560"/>
            <a:ext cx="25420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□  MT700, MT900+ message types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Real-time streaming pipeline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SWIFT connectivity integration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1A1A2E"/>
                </a:solidFill>
                <a:latin typeface="Calibri"/>
              </a:rPr>
              <a:t>□  Regulatory reporting module</a:t>
            </a:r>
          </a:p>
        </p:txBody>
      </p:sp>
      <p:sp>
        <p:nvSpPr>
          <p:cNvPr id="27" name="Can 26"/>
          <p:cNvSpPr/>
          <p:nvPr/>
        </p:nvSpPr>
        <p:spPr>
          <a:xfrm>
            <a:off x="3063240" y="2935223"/>
            <a:ext cx="182880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6044184" y="2935223"/>
            <a:ext cx="182880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9025128" y="2935223"/>
            <a:ext cx="182880" cy="256032"/>
          </a:xfrm>
          <a:prstGeom prst="can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20640"/>
            <a:ext cx="11640312" cy="1828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2120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D8F"/>
                </a:solidFill>
                <a:latin typeface="Calibri"/>
              </a:rPr>
              <a:t>🧠  Hybrid AI — auditability +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2120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D8F"/>
                </a:solidFill>
                <a:latin typeface="Calibri"/>
              </a:rPr>
              <a:t>🔄  Bidirectional — migration &amp; legacy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2120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D8F"/>
                </a:solidFill>
                <a:latin typeface="Calibri"/>
              </a:rPr>
              <a:t>☁️  Cloud-native — Azure-first, containerised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2120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D8F"/>
                </a:solidFill>
                <a:latin typeface="Calibri"/>
              </a:rPr>
              <a:t>🔭  Observability-first — logging &amp; tracing built-in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F5"/>
                </a:solidFill>
                <a:latin typeface="Calibri"/>
              </a:rPr>
              <a:t>Built on Modern, Enterprise-Proven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6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828800" cy="402336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34440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188720"/>
            <a:ext cx="4754880" cy="402336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234440"/>
            <a:ext cx="4535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188720"/>
            <a:ext cx="4892040" cy="402336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234440"/>
            <a:ext cx="4672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91056"/>
            <a:ext cx="11567160" cy="4023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591056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655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655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React 18 + TypeScript + Tailwind CSS + 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6550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Responsive, component-based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93392"/>
            <a:ext cx="11567160" cy="402336"/>
          </a:xfrm>
          <a:prstGeom prst="rect">
            <a:avLst/>
          </a:prstGeom>
          <a:solidFill>
            <a:srgbClr val="D6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993392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FastAPI + Pydantic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057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Async REST, schema validation, OpenAPI 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11567160" cy="4023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395728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459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2459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LangGraph + LangChain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Multi-step agentic AI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98064"/>
            <a:ext cx="11567160" cy="402336"/>
          </a:xfrm>
          <a:prstGeom prst="rect">
            <a:avLst/>
          </a:prstGeom>
          <a:solidFill>
            <a:srgbClr val="D6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798064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862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2862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Azure OpenAI 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862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Semantic mapping &amp; field enrichment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00400"/>
            <a:ext cx="11567160" cy="4023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00400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264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Config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" y="3264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Pydantic BaseSettings + .env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2644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12-factor, environment-scoped configuration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02736"/>
            <a:ext cx="11567160" cy="402336"/>
          </a:xfrm>
          <a:prstGeom prst="rect">
            <a:avLst/>
          </a:prstGeom>
          <a:solidFill>
            <a:srgbClr val="D6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02736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6667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8568" y="36667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Structured JSON Logger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3666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Production observability, grep-friendly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05072"/>
            <a:ext cx="11567160" cy="4023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005072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Tracing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8568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Phoenix / OpenTelemetry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LLM call tracing &amp; performance monitoring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407408"/>
            <a:ext cx="11567160" cy="402336"/>
          </a:xfrm>
          <a:prstGeom prst="rect">
            <a:avLst/>
          </a:prstGeom>
          <a:solidFill>
            <a:srgbClr val="D6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407408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44714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58568" y="4471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SQLite → PostgreSQL (roadmap)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44714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Audit trail &amp; message persistence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809744"/>
            <a:ext cx="11567160" cy="4023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4809744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873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Container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58568" y="4873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Docker + Docker Compose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9168" y="4873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Local dev &amp; cloud deployment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212080"/>
            <a:ext cx="11567160" cy="402336"/>
          </a:xfrm>
          <a:prstGeom prst="rect">
            <a:avLst/>
          </a:prstGeom>
          <a:solidFill>
            <a:srgbClr val="D6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5212080"/>
            <a:ext cx="11567160" cy="91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276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FC7"/>
                </a:solidFill>
                <a:latin typeface="Calibri"/>
              </a:rPr>
              <a:t>Secrets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58568" y="5276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Azure Key Vault (integration-ready)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5276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Calibri"/>
              </a:rPr>
              <a:t>Secure credential management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D4F5"/>
                </a:solidFill>
                <a:latin typeface="Calibri"/>
              </a:rPr>
              <a:t>ISO 20022 GenAI Migration Platform  |  Confidential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